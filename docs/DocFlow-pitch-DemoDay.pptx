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ban giám khảo. Em là đại diện team OCanbubu. Sản phẩm của tụi em là DocFlow — giải đề Intelligent Document Processing của SHB, và mọi thứ quý vị sắp thấy đang chạy thật trên production, không phải mockup.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SHB xử lý khối lượng lớn hồ sơ tín dụng và điện thanh toán quốc tế thủ công. Chính đề bài đặt mục tiêu giảm 70–80% thời gian xử lý. DocFlow trả lời trực tiếp con số đó.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mở màn: kéo 4 file của bộ 'Scan điện thoại · Nguyễn Văn An' vào. Trong lúc chạy: PyTorch router phân loại trước, Gemini trích xuất song song — cả bộ tốn thời gian của file chậm nhất, không phải tổng. Có progress bar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60 giây quan trọng nhất. Click 'Số CCCD' → viewer khoanh cam đúng vị trí trên giấy. Chỉ vào banner đỏ: CCCD trên hợp đồng lệch đơn vay → click → hai bản scan mở cạnh nhau. Chốt câu: 'Đây không phải OCR. Đây là lớp kiểm soát rủi ro — thứ ngân hàng trả tiền để có.'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nhanh: double-click sửa 1 trường → hiện icon bút + audit log. Quay về dashboard KPI. Bấm Export core-banking → JSON payload. Câu chốt: payload trung lập, adapter đứng trước core Intellect — không đụng core, đúng nguyên tắc tích hợp hệ thống ngân hàng.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Tất cả đo trên production với ground truth, script công khai. Tụi em công bố cả 95% lẫn 84% — minh bạch cả số đẹp lẫn số thô. So với hàng giờ nhập tay: p50 26 giây một chứng từ.</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nhấn kiến trúc: không có file credential nào tồn tại — Cloud Run chạy ADC. Trọng tài đối chiếu là rule thuần TypeScript đọc từ điển trường chuẩn — deterministic, giải thích được từng cảnh báo. Bộ phận bắt sai lệch mà dùng model thì chính nó có thể bịa.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giải META: PyTorch không gắn vào cho có. Nó là bộ định tuyến đứng đầu pipeline — train tại sự kiện, dataset sinh lại được bằng script, TorchScript serve production. Camera thấy chip PyTorch trên từng chứng từ trong UI. Nếu bị hỏi 'sao không PyTorch toàn phần cho rẻ': hôm nay AI đắt nhất giá 500đ/bộ — vấn đề không phải model rẻ mà là dữ liệu train. Mỗi trường người duyệt = 1 nhãn ground truth kèm bbox; 3 tháng pilot = vài trăm nghìn nhãn → distill từng loại chứng từ layout ổn định sang extractor PyTorch on-prem, Gemini rút về làm lưới an toàn ca khó. 'Tụi em không chọn giữa LLM và PyTorch — tụi em dùng LLM để bootstrap PyTorch.'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phản công chủ động khi Q&amp;A chạm chi phí/phụ thuộc Gemini. Hôm nay AI đắt nhất giá 500 đồng/bộ — vấn đề không phải model rẻ mà là dữ liệu train. Review queue chính là dây chuyền gán nhãn: 10k bộ/tháng × 15 trường × 4 chứng từ ≈ nửa triệu nhãn/tháng. 3 tháng pilot đủ distill extractor riêng cho CCCD, MT103 — chạy on-prem trong SHB. Không công ty AI nào mua được dataset đó — chỉ vận hành thật mới sinh ra. Đó là moat.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nguồn thu: phí theo lượt, phí tích hợp một lần, thuê bao vận hành theo chi nhánh. Đơn vị kinh tế minh bạch: 10.000 bộ/tháng tốn khoảng 5 triệu đồng AI. Sản phẩm không phụ thuộc SHB — lõi IDP dùng được cho mọi tổ chức tài chính.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2 tuần sau hôm nay tụi em có thể chạy sandbox trên hồ sơ ẩn danh. 3 tháng pilot một chi nhánh với KPI 70% trường tự động. Câu kết: DocFlow không phải demo hackathon — nó là sản phẩm SHB có thể bật công tắc.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tủ: (1) Sai thì sao → review queue + audit. (2) AI sai cả hai bản → nhập tay áp mọi nguồn, vẫn audit. (3) Tích hợp core Intellect 2010 → adapter qua ESB, không đụng core. (4) Sao không để AI tự đối chiếu → trọng tài phải deterministic. (5) Bảo mật → access code, RLS, private bucket. (6) Scale → serverless, 10.000 bộ/ngày ≈ 5 triệu đồng 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502920"/>
            <a:ext cx="274320" cy="27432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48840"/>
            <a:ext cx="11155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Arial"/>
              </a:rPr>
              <a:t>Doc</a:t>
            </a:r>
            <a:r>
              <a:rPr sz="7600" b="1" i="0">
                <a:solidFill>
                  <a:srgbClr val="F58220"/>
                </a:solidFill>
                <a:latin typeface="Arial"/>
              </a:rPr>
              <a:t>Flow</a:t>
            </a:r>
          </a:p>
        </p:txBody>
      </p:sp>
      <p:sp>
        <p:nvSpPr>
          <p:cNvPr id="6" name="TextBox 5"/>
          <p:cNvSpPr txBox="1"/>
          <p:nvPr/>
        </p:nvSpPr>
        <p:spPr>
          <a:xfrm>
            <a:off x="521207" y="3429000"/>
            <a:ext cx="10515600" cy="502920"/>
          </a:xfrm>
          <a:prstGeom prst="rect">
            <a:avLst/>
          </a:prstGeom>
          <a:noFill/>
        </p:spPr>
        <p:txBody>
          <a:bodyPr wrap="square" anchor="t" lIns="0" rIns="0" tIns="0" bIns="0">
            <a:spAutoFit/>
          </a:bodyPr>
          <a:lstStyle/>
          <a:p>
            <a:pPr algn="l">
              <a:lnSpc>
                <a:spcPct val="100000"/>
              </a:lnSpc>
              <a:spcAft>
                <a:spcPts val="600"/>
              </a:spcAft>
            </a:pPr>
            <a:r>
              <a:rPr sz="2600" b="0" i="0">
                <a:solidFill>
                  <a:srgbClr val="FFFFFF"/>
                </a:solidFill>
                <a:latin typeface="Arial"/>
              </a:rPr>
              <a:t>Hồ sơ tín dụng: từ bản scan đến core-banking trong vài phút</a:t>
            </a:r>
          </a:p>
        </p:txBody>
      </p:sp>
      <p:sp>
        <p:nvSpPr>
          <p:cNvPr id="7" name="TextBox 6"/>
          <p:cNvSpPr txBox="1"/>
          <p:nvPr/>
        </p:nvSpPr>
        <p:spPr>
          <a:xfrm>
            <a:off x="521207" y="4069080"/>
            <a:ext cx="10515600" cy="548640"/>
          </a:xfrm>
          <a:prstGeom prst="rect">
            <a:avLst/>
          </a:prstGeom>
          <a:noFill/>
        </p:spPr>
        <p:txBody>
          <a:bodyPr wrap="square" anchor="t" lIns="0" rIns="0" tIns="0" bIns="0">
            <a:spAutoFit/>
          </a:bodyPr>
          <a:lstStyle/>
          <a:p>
            <a:pPr algn="l">
              <a:lnSpc>
                <a:spcPct val="100000"/>
              </a:lnSpc>
              <a:spcAft>
                <a:spcPts val="600"/>
              </a:spcAft>
            </a:pPr>
            <a:r>
              <a:rPr sz="1700" b="1" i="0">
                <a:solidFill>
                  <a:srgbClr val="F58220"/>
                </a:solidFill>
                <a:latin typeface="Arial"/>
              </a:rPr>
              <a:t>AI đọc — code đối chiếu — người quyết định</a:t>
            </a:r>
          </a:p>
        </p:txBody>
      </p:sp>
      <p:sp>
        <p:nvSpPr>
          <p:cNvPr id="8" name="TextBox 7"/>
          <p:cNvSpPr txBox="1"/>
          <p:nvPr/>
        </p:nvSpPr>
        <p:spPr>
          <a:xfrm>
            <a:off x="521207" y="5349240"/>
            <a:ext cx="10515600" cy="914400"/>
          </a:xfrm>
          <a:prstGeom prst="rect">
            <a:avLst/>
          </a:prstGeom>
          <a:noFill/>
        </p:spPr>
        <p:txBody>
          <a:bodyPr wrap="square" anchor="t" lIns="0" rIns="0" tIns="0" bIns="0">
            <a:spAutoFit/>
          </a:bodyPr>
          <a:lstStyle/>
          <a:p>
            <a:pPr algn="l">
              <a:lnSpc>
                <a:spcPct val="100000"/>
              </a:lnSpc>
              <a:spcAft>
                <a:spcPts val="400"/>
              </a:spcAft>
            </a:pPr>
            <a:r>
              <a:rPr sz="1400" b="0" i="0">
                <a:solidFill>
                  <a:srgbClr val="B9C6DE"/>
                </a:solidFill>
                <a:latin typeface="Arial"/>
              </a:rPr>
              <a:t>Team OCanbubu · Vietnam AI Innovation Challenge 2026 · Đà Nẵng</a:t>
            </a:r>
          </a:p>
          <a:p>
            <a:pPr algn="l">
              <a:lnSpc>
                <a:spcPct val="100000"/>
              </a:lnSpc>
              <a:spcAft>
                <a:spcPts val="400"/>
              </a:spcAft>
            </a:pPr>
            <a:r>
              <a:rPr sz="1400" b="0" i="0">
                <a:solidFill>
                  <a:srgbClr val="B9C6DE"/>
                </a:solidFill>
                <a:latin typeface="Arial"/>
              </a:rPr>
              <a:t>Đề SHB #195 — Intelligent Document Processing · Track Tài chính / Ngân hàng</a:t>
            </a:r>
          </a:p>
        </p:txBody>
      </p:sp>
      <p:sp>
        <p:nvSpPr>
          <p:cNvPr id="9" name="TextBox 8"/>
          <p:cNvSpPr txBox="1"/>
          <p:nvPr/>
        </p:nvSpPr>
        <p:spPr>
          <a:xfrm>
            <a:off x="521207" y="960120"/>
            <a:ext cx="10515600" cy="457200"/>
          </a:xfrm>
          <a:prstGeom prst="rect">
            <a:avLst/>
          </a:prstGeom>
          <a:noFill/>
        </p:spPr>
        <p:txBody>
          <a:bodyPr wrap="square" anchor="t" lIns="0" rIns="0" tIns="0" bIns="0">
            <a:spAutoFit/>
          </a:bodyPr>
          <a:lstStyle/>
          <a:p>
            <a:pPr algn="l">
              <a:lnSpc>
                <a:spcPct val="100000"/>
              </a:lnSpc>
              <a:spcAft>
                <a:spcPts val="600"/>
              </a:spcAft>
            </a:pPr>
            <a:r>
              <a:rPr sz="1400" b="0" i="0">
                <a:solidFill>
                  <a:srgbClr val="F58220"/>
                </a:solidFill>
                <a:latin typeface="Arial"/>
              </a:rPr>
              <a:t>docflow.huynhchitai.com — đang chạy production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VẤN ĐỀ</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Một bộ hồ sơ vay = nhiều giờ gõ tay</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02</a:t>
            </a:r>
          </a:p>
        </p:txBody>
      </p:sp>
      <p:sp>
        <p:nvSpPr>
          <p:cNvPr id="9" name="TextBox 8"/>
          <p:cNvSpPr txBox="1"/>
          <p:nvPr/>
        </p:nvSpPr>
        <p:spPr>
          <a:xfrm>
            <a:off x="502920" y="1600200"/>
            <a:ext cx="6035040" cy="4114800"/>
          </a:xfrm>
          <a:prstGeom prst="rect">
            <a:avLst/>
          </a:prstGeom>
          <a:noFill/>
        </p:spPr>
        <p:txBody>
          <a:bodyPr wrap="square" anchor="t" lIns="0" rIns="0" tIns="0" bIns="0">
            <a:spAutoFit/>
          </a:bodyPr>
          <a:lstStyle/>
          <a:p>
            <a:pPr algn="l">
              <a:lnSpc>
                <a:spcPct val="115000"/>
              </a:lnSpc>
              <a:spcAft>
                <a:spcPts val="600"/>
              </a:spcAft>
            </a:pPr>
            <a:r>
              <a:rPr sz="1800" b="0" i="0">
                <a:solidFill>
                  <a:srgbClr val="0E1F3D"/>
                </a:solidFill>
                <a:latin typeface="Arial"/>
              </a:rPr>
              <a:t>Cán bộ tín dụng nhận một bộ hồ sơ scan:</a:t>
            </a:r>
          </a:p>
          <a:p>
            <a:pPr algn="l">
              <a:lnSpc>
                <a:spcPct val="115000"/>
              </a:lnSpc>
              <a:spcAft>
                <a:spcPts val="600"/>
              </a:spcAft>
            </a:pPr>
            <a:r>
              <a:rPr sz="1600" b="0" i="0">
                <a:solidFill>
                  <a:srgbClr val="51617F"/>
                </a:solidFill>
                <a:latin typeface="Arial"/>
              </a:rPr>
              <a:t>đơn vay · báo cáo tài chính · hợp đồng thế chấp · điện SWIFT/TT</a:t>
            </a:r>
          </a:p>
          <a:p>
            <a:pPr algn="l">
              <a:lnSpc>
                <a:spcPct val="115000"/>
              </a:lnSpc>
              <a:spcAft>
                <a:spcPts val="600"/>
              </a:spcAft>
            </a:pPr>
            <a:r>
              <a:rPr sz="1800" b="0" i="0">
                <a:solidFill>
                  <a:srgbClr val="0E1F3D"/>
                </a:solidFill>
                <a:latin typeface="Arial"/>
              </a:rPr>
              <a:t/>
            </a:r>
          </a:p>
          <a:p>
            <a:pPr algn="l">
              <a:lnSpc>
                <a:spcPct val="115000"/>
              </a:lnSpc>
              <a:spcAft>
                <a:spcPts val="600"/>
              </a:spcAft>
            </a:pPr>
            <a:r>
              <a:rPr sz="1800" b="1" i="0">
                <a:solidFill>
                  <a:srgbClr val="0E1F3D"/>
                </a:solidFill>
                <a:latin typeface="Arial"/>
              </a:rPr>
              <a:t>Rồi gõ lại hàng chục trường vào hệ thống — bằng tay.</a:t>
            </a:r>
          </a:p>
          <a:p>
            <a:pPr algn="l">
              <a:lnSpc>
                <a:spcPct val="115000"/>
              </a:lnSpc>
              <a:spcAft>
                <a:spcPts val="600"/>
              </a:spcAft>
            </a:pPr>
            <a:r>
              <a:rPr sz="1800" b="0" i="0">
                <a:solidFill>
                  <a:srgbClr val="0E1F3D"/>
                </a:solidFill>
                <a:latin typeface="Arial"/>
              </a:rPr>
              <a:t/>
            </a:r>
          </a:p>
          <a:p>
            <a:pPr algn="l">
              <a:lnSpc>
                <a:spcPct val="115000"/>
              </a:lnSpc>
              <a:spcAft>
                <a:spcPts val="600"/>
              </a:spcAft>
            </a:pPr>
            <a:r>
              <a:rPr sz="1600" b="0" i="0">
                <a:solidFill>
                  <a:srgbClr val="0E1F3D"/>
                </a:solidFill>
                <a:latin typeface="Arial"/>
              </a:rPr>
              <a:t>Chậm: phê duyệt tính bằng ngày, không phải giờ</a:t>
            </a:r>
          </a:p>
          <a:p>
            <a:pPr algn="l">
              <a:lnSpc>
                <a:spcPct val="115000"/>
              </a:lnSpc>
              <a:spcAft>
                <a:spcPts val="600"/>
              </a:spcAft>
            </a:pPr>
            <a:r>
              <a:rPr sz="1600" b="0" i="0">
                <a:solidFill>
                  <a:srgbClr val="0E1F3D"/>
                </a:solidFill>
                <a:latin typeface="Arial"/>
              </a:rPr>
              <a:t>Sai: mỗi lần gõ lại là một cơ hội sai số</a:t>
            </a:r>
          </a:p>
          <a:p>
            <a:pPr algn="l">
              <a:lnSpc>
                <a:spcPct val="115000"/>
              </a:lnSpc>
              <a:spcAft>
                <a:spcPts val="600"/>
              </a:spcAft>
            </a:pPr>
            <a:r>
              <a:rPr sz="1600" b="0" i="0">
                <a:solidFill>
                  <a:srgbClr val="0E1F3D"/>
                </a:solidFill>
                <a:latin typeface="Arial"/>
              </a:rPr>
              <a:t>Đắt: thời gian nghiệp vụ đổ vào việc nhập liệu</a:t>
            </a:r>
          </a:p>
        </p:txBody>
      </p:sp>
      <p:sp>
        <p:nvSpPr>
          <p:cNvPr id="10" name="Rounded Rectangle 9"/>
          <p:cNvSpPr/>
          <p:nvPr/>
        </p:nvSpPr>
        <p:spPr>
          <a:xfrm>
            <a:off x="6949440" y="1737360"/>
            <a:ext cx="4709160" cy="4023360"/>
          </a:xfrm>
          <a:prstGeom prst="roundRect">
            <a:avLst>
              <a:gd name="adj" fmla="val 6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69480" y="2057400"/>
            <a:ext cx="4114800" cy="45720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ĐỀ BÀI SHB ĐẶT MỤC TIÊU</a:t>
            </a:r>
          </a:p>
        </p:txBody>
      </p:sp>
      <p:sp>
        <p:nvSpPr>
          <p:cNvPr id="12" name="TextBox 11"/>
          <p:cNvSpPr txBox="1"/>
          <p:nvPr/>
        </p:nvSpPr>
        <p:spPr>
          <a:xfrm>
            <a:off x="7269480" y="2468880"/>
            <a:ext cx="4114800" cy="1005840"/>
          </a:xfrm>
          <a:prstGeom prst="rect">
            <a:avLst/>
          </a:prstGeom>
          <a:noFill/>
        </p:spPr>
        <p:txBody>
          <a:bodyPr wrap="square" anchor="t" lIns="0" rIns="0" tIns="0" bIns="0">
            <a:spAutoFit/>
          </a:bodyPr>
          <a:lstStyle/>
          <a:p>
            <a:pPr algn="l">
              <a:lnSpc>
                <a:spcPct val="100000"/>
              </a:lnSpc>
              <a:spcAft>
                <a:spcPts val="600"/>
              </a:spcAft>
            </a:pPr>
            <a:r>
              <a:rPr sz="4400" b="1" i="0">
                <a:solidFill>
                  <a:srgbClr val="C25605"/>
                </a:solidFill>
                <a:latin typeface="Arial"/>
              </a:rPr>
              <a:t>70–80%</a:t>
            </a:r>
          </a:p>
          <a:p>
            <a:pPr algn="l">
              <a:lnSpc>
                <a:spcPct val="100000"/>
              </a:lnSpc>
              <a:spcAft>
                <a:spcPts val="600"/>
              </a:spcAft>
            </a:pPr>
            <a:r>
              <a:rPr sz="1400" b="0" i="0">
                <a:solidFill>
                  <a:srgbClr val="51617F"/>
                </a:solidFill>
                <a:latin typeface="Arial"/>
              </a:rPr>
              <a:t>giảm thời gian xử lý chứng từ thủ công</a:t>
            </a:r>
          </a:p>
        </p:txBody>
      </p:sp>
      <p:sp>
        <p:nvSpPr>
          <p:cNvPr id="13" name="TextBox 12"/>
          <p:cNvSpPr txBox="1"/>
          <p:nvPr/>
        </p:nvSpPr>
        <p:spPr>
          <a:xfrm>
            <a:off x="7269480" y="3977639"/>
            <a:ext cx="4114800" cy="146304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ngày → giờ</a:t>
            </a:r>
          </a:p>
          <a:p>
            <a:pPr algn="l">
              <a:lnSpc>
                <a:spcPct val="100000"/>
              </a:lnSpc>
              <a:spcAft>
                <a:spcPts val="600"/>
              </a:spcAft>
            </a:pPr>
            <a:r>
              <a:rPr sz="1400" b="0" i="0">
                <a:solidFill>
                  <a:srgbClr val="51617F"/>
                </a:solidFill>
                <a:latin typeface="Arial"/>
              </a:rPr>
              <a:t>rút ngắn chu trình phê duyệt khoản vay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DEMO</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Thả hồ sơ vào — còn lại là một luồng duy nhất</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03</a:t>
            </a:r>
          </a:p>
        </p:txBody>
      </p:sp>
      <p:sp>
        <p:nvSpPr>
          <p:cNvPr id="9" name="Chevron 8"/>
          <p:cNvSpPr/>
          <p:nvPr/>
        </p:nvSpPr>
        <p:spPr>
          <a:xfrm>
            <a:off x="502920" y="1828800"/>
            <a:ext cx="2395728" cy="1600200"/>
          </a:xfrm>
          <a:prstGeom prst="chevron">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rIns="45720"/>
          <a:lstStyle/>
          <a:p>
            <a:pPr algn="ctr"/>
            <a:r>
              <a:rPr sz="1500" b="1">
                <a:solidFill>
                  <a:srgbClr val="FFFFFF"/>
                </a:solidFill>
                <a:latin typeface="Arial"/>
              </a:rPr>
              <a:t>Thả hồ sơ</a:t>
            </a:r>
          </a:p>
        </p:txBody>
      </p:sp>
      <p:sp>
        <p:nvSpPr>
          <p:cNvPr id="10" name="Chevron 9"/>
          <p:cNvSpPr/>
          <p:nvPr/>
        </p:nvSpPr>
        <p:spPr>
          <a:xfrm>
            <a:off x="2679192" y="1828800"/>
            <a:ext cx="2395728" cy="1600200"/>
          </a:xfrm>
          <a:prstGeom prst="chevron">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rIns="45720"/>
          <a:lstStyle/>
          <a:p>
            <a:pPr algn="ctr"/>
            <a:r>
              <a:rPr sz="1500" b="1">
                <a:solidFill>
                  <a:srgbClr val="FFFFFF"/>
                </a:solidFill>
                <a:latin typeface="Arial"/>
              </a:rPr>
              <a:t>PyTorch</a:t>
            </a:r>
          </a:p>
          <a:p>
            <a:pPr algn="ctr"/>
            <a:r>
              <a:rPr sz="1500" b="1">
                <a:solidFill>
                  <a:srgbClr val="FFFFFF"/>
                </a:solidFill>
                <a:latin typeface="Arial"/>
              </a:rPr>
              <a:t>router</a:t>
            </a:r>
          </a:p>
        </p:txBody>
      </p:sp>
      <p:sp>
        <p:nvSpPr>
          <p:cNvPr id="11" name="Chevron 10"/>
          <p:cNvSpPr/>
          <p:nvPr/>
        </p:nvSpPr>
        <p:spPr>
          <a:xfrm>
            <a:off x="4855464" y="1828800"/>
            <a:ext cx="2395728" cy="1600200"/>
          </a:xfrm>
          <a:prstGeom prst="chevron">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rIns="45720"/>
          <a:lstStyle/>
          <a:p>
            <a:pPr algn="ctr"/>
            <a:r>
              <a:rPr sz="1500" b="1">
                <a:solidFill>
                  <a:srgbClr val="FFFFFF"/>
                </a:solidFill>
                <a:latin typeface="Arial"/>
              </a:rPr>
              <a:t>Trích xuất</a:t>
            </a:r>
          </a:p>
          <a:p>
            <a:pPr algn="ctr"/>
            <a:r>
              <a:rPr sz="1500" b="1">
                <a:solidFill>
                  <a:srgbClr val="FFFFFF"/>
                </a:solidFill>
                <a:latin typeface="Arial"/>
              </a:rPr>
              <a:t>Gemini</a:t>
            </a:r>
          </a:p>
        </p:txBody>
      </p:sp>
      <p:sp>
        <p:nvSpPr>
          <p:cNvPr id="12" name="Chevron 11"/>
          <p:cNvSpPr/>
          <p:nvPr/>
        </p:nvSpPr>
        <p:spPr>
          <a:xfrm>
            <a:off x="7031736" y="1828800"/>
            <a:ext cx="2395728" cy="1600200"/>
          </a:xfrm>
          <a:prstGeom prst="chevron">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rIns="45720"/>
          <a:lstStyle/>
          <a:p>
            <a:pPr algn="ctr"/>
            <a:r>
              <a:rPr sz="1500" b="1">
                <a:solidFill>
                  <a:srgbClr val="FFFFFF"/>
                </a:solidFill>
                <a:latin typeface="Arial"/>
              </a:rPr>
              <a:t>Đối chiếu</a:t>
            </a:r>
          </a:p>
          <a:p>
            <a:pPr algn="ctr"/>
            <a:r>
              <a:rPr sz="1500" b="1">
                <a:solidFill>
                  <a:srgbClr val="FFFFFF"/>
                </a:solidFill>
                <a:latin typeface="Arial"/>
              </a:rPr>
              <a:t>chéo</a:t>
            </a:r>
          </a:p>
        </p:txBody>
      </p:sp>
      <p:sp>
        <p:nvSpPr>
          <p:cNvPr id="13" name="Chevron 12"/>
          <p:cNvSpPr/>
          <p:nvPr/>
        </p:nvSpPr>
        <p:spPr>
          <a:xfrm>
            <a:off x="9208008" y="1828800"/>
            <a:ext cx="2395728" cy="1600200"/>
          </a:xfrm>
          <a:prstGeom prst="chevron">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6032" rIns="45720"/>
          <a:lstStyle/>
          <a:p>
            <a:pPr algn="ctr"/>
            <a:r>
              <a:rPr sz="1500" b="1">
                <a:solidFill>
                  <a:srgbClr val="FFFFFF"/>
                </a:solidFill>
                <a:latin typeface="Arial"/>
              </a:rPr>
              <a:t>Duyệt &amp; xuất</a:t>
            </a:r>
          </a:p>
          <a:p>
            <a:pPr algn="ctr"/>
            <a:r>
              <a:rPr sz="1500" b="1">
                <a:solidFill>
                  <a:srgbClr val="FFFFFF"/>
                </a:solidFill>
                <a:latin typeface="Arial"/>
              </a:rPr>
              <a:t>core-banking</a:t>
            </a:r>
          </a:p>
        </p:txBody>
      </p:sp>
      <p:sp>
        <p:nvSpPr>
          <p:cNvPr id="14" name="TextBox 13"/>
          <p:cNvSpPr txBox="1"/>
          <p:nvPr/>
        </p:nvSpPr>
        <p:spPr>
          <a:xfrm>
            <a:off x="667512" y="3611880"/>
            <a:ext cx="2121408" cy="914400"/>
          </a:xfrm>
          <a:prstGeom prst="rect">
            <a:avLst/>
          </a:prstGeom>
          <a:noFill/>
        </p:spPr>
        <p:txBody>
          <a:bodyPr wrap="square" anchor="t" lIns="0" rIns="0" tIns="0" bIns="0">
            <a:spAutoFit/>
          </a:bodyPr>
          <a:lstStyle/>
          <a:p>
            <a:pPr algn="ctr">
              <a:lnSpc>
                <a:spcPct val="110000"/>
              </a:lnSpc>
              <a:spcAft>
                <a:spcPts val="600"/>
              </a:spcAft>
            </a:pPr>
            <a:r>
              <a:rPr sz="1250" b="0" i="0">
                <a:solidFill>
                  <a:srgbClr val="51617F"/>
                </a:solidFill>
                <a:latin typeface="Arial"/>
              </a:rPr>
              <a:t>nhiều PDF/ảnh, xử lý song song</a:t>
            </a:r>
          </a:p>
        </p:txBody>
      </p:sp>
      <p:sp>
        <p:nvSpPr>
          <p:cNvPr id="15" name="TextBox 14"/>
          <p:cNvSpPr txBox="1"/>
          <p:nvPr/>
        </p:nvSpPr>
        <p:spPr>
          <a:xfrm>
            <a:off x="2843784" y="3611880"/>
            <a:ext cx="2121408" cy="914400"/>
          </a:xfrm>
          <a:prstGeom prst="rect">
            <a:avLst/>
          </a:prstGeom>
          <a:noFill/>
        </p:spPr>
        <p:txBody>
          <a:bodyPr wrap="square" anchor="t" lIns="0" rIns="0" tIns="0" bIns="0">
            <a:spAutoFit/>
          </a:bodyPr>
          <a:lstStyle/>
          <a:p>
            <a:pPr algn="ctr">
              <a:lnSpc>
                <a:spcPct val="110000"/>
              </a:lnSpc>
              <a:spcAft>
                <a:spcPts val="600"/>
              </a:spcAft>
            </a:pPr>
            <a:r>
              <a:rPr sz="1250" b="0" i="0">
                <a:solidFill>
                  <a:srgbClr val="51617F"/>
                </a:solidFill>
                <a:latin typeface="Arial"/>
              </a:rPr>
              <a:t>phân loại chứng từ 120–290ms</a:t>
            </a:r>
          </a:p>
        </p:txBody>
      </p:sp>
      <p:sp>
        <p:nvSpPr>
          <p:cNvPr id="16" name="TextBox 15"/>
          <p:cNvSpPr txBox="1"/>
          <p:nvPr/>
        </p:nvSpPr>
        <p:spPr>
          <a:xfrm>
            <a:off x="5020056" y="3611880"/>
            <a:ext cx="2121408" cy="914400"/>
          </a:xfrm>
          <a:prstGeom prst="rect">
            <a:avLst/>
          </a:prstGeom>
          <a:noFill/>
        </p:spPr>
        <p:txBody>
          <a:bodyPr wrap="square" anchor="t" lIns="0" rIns="0" tIns="0" bIns="0">
            <a:spAutoFit/>
          </a:bodyPr>
          <a:lstStyle/>
          <a:p>
            <a:pPr algn="ctr">
              <a:lnSpc>
                <a:spcPct val="110000"/>
              </a:lnSpc>
              <a:spcAft>
                <a:spcPts val="600"/>
              </a:spcAft>
            </a:pPr>
            <a:r>
              <a:rPr sz="1250" b="0" i="0">
                <a:solidFill>
                  <a:srgbClr val="51617F"/>
                </a:solidFill>
                <a:latin typeface="Arial"/>
              </a:rPr>
              <a:t>value + độ tin cậy + vị trí trên giấy</a:t>
            </a:r>
          </a:p>
        </p:txBody>
      </p:sp>
      <p:sp>
        <p:nvSpPr>
          <p:cNvPr id="17" name="TextBox 16"/>
          <p:cNvSpPr txBox="1"/>
          <p:nvPr/>
        </p:nvSpPr>
        <p:spPr>
          <a:xfrm>
            <a:off x="7196328" y="3611880"/>
            <a:ext cx="2121408" cy="914400"/>
          </a:xfrm>
          <a:prstGeom prst="rect">
            <a:avLst/>
          </a:prstGeom>
          <a:noFill/>
        </p:spPr>
        <p:txBody>
          <a:bodyPr wrap="square" anchor="t" lIns="0" rIns="0" tIns="0" bIns="0">
            <a:spAutoFit/>
          </a:bodyPr>
          <a:lstStyle/>
          <a:p>
            <a:pPr algn="ctr">
              <a:lnSpc>
                <a:spcPct val="110000"/>
              </a:lnSpc>
              <a:spcAft>
                <a:spcPts val="600"/>
              </a:spcAft>
            </a:pPr>
            <a:r>
              <a:rPr sz="1250" b="0" i="0">
                <a:solidFill>
                  <a:srgbClr val="51617F"/>
                </a:solidFill>
                <a:latin typeface="Arial"/>
              </a:rPr>
              <a:t>rule thuần code, cảnh báo trọng yếu</a:t>
            </a:r>
          </a:p>
        </p:txBody>
      </p:sp>
      <p:sp>
        <p:nvSpPr>
          <p:cNvPr id="18" name="TextBox 17"/>
          <p:cNvSpPr txBox="1"/>
          <p:nvPr/>
        </p:nvSpPr>
        <p:spPr>
          <a:xfrm>
            <a:off x="9372600" y="3611880"/>
            <a:ext cx="2121408" cy="914400"/>
          </a:xfrm>
          <a:prstGeom prst="rect">
            <a:avLst/>
          </a:prstGeom>
          <a:noFill/>
        </p:spPr>
        <p:txBody>
          <a:bodyPr wrap="square" anchor="t" lIns="0" rIns="0" tIns="0" bIns="0">
            <a:spAutoFit/>
          </a:bodyPr>
          <a:lstStyle/>
          <a:p>
            <a:pPr algn="ctr">
              <a:lnSpc>
                <a:spcPct val="110000"/>
              </a:lnSpc>
              <a:spcAft>
                <a:spcPts val="600"/>
              </a:spcAft>
            </a:pPr>
            <a:r>
              <a:rPr sz="1250" b="0" i="0">
                <a:solidFill>
                  <a:srgbClr val="51617F"/>
                </a:solidFill>
                <a:latin typeface="Arial"/>
              </a:rPr>
              <a:t>audit log, payload CIF</a:t>
            </a:r>
          </a:p>
        </p:txBody>
      </p:sp>
      <p:sp>
        <p:nvSpPr>
          <p:cNvPr id="19" name="TextBox 18"/>
          <p:cNvSpPr txBox="1"/>
          <p:nvPr/>
        </p:nvSpPr>
        <p:spPr>
          <a:xfrm>
            <a:off x="502920" y="4846320"/>
            <a:ext cx="11155680" cy="1097280"/>
          </a:xfrm>
          <a:prstGeom prst="rect">
            <a:avLst/>
          </a:prstGeom>
          <a:noFill/>
        </p:spPr>
        <p:txBody>
          <a:bodyPr wrap="square" anchor="t" lIns="0" rIns="0" tIns="0" bIns="0">
            <a:spAutoFit/>
          </a:bodyPr>
          <a:lstStyle/>
          <a:p>
            <a:pPr algn="l">
              <a:lnSpc>
                <a:spcPct val="120000"/>
              </a:lnSpc>
              <a:spcAft>
                <a:spcPts val="600"/>
              </a:spcAft>
            </a:pPr>
            <a:r>
              <a:rPr sz="1600" b="0" i="0">
                <a:solidFill>
                  <a:srgbClr val="0E1F3D"/>
                </a:solidFill>
                <a:latin typeface="Arial"/>
              </a:rPr>
              <a:t>Scan điện thoại nghiêng, mờ, nhiễu — vẫn đọc được. </a:t>
            </a:r>
            <a:r>
              <a:rPr sz="1600" b="0" i="0">
                <a:solidFill>
                  <a:srgbClr val="51617F"/>
                </a:solidFill>
                <a:latin typeface="Arial"/>
              </a:rPr>
              <a:t>Nghiệp vụ tự thêm trường mới trên UI trong 10 giây, không cần deploy.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KHOẢNH KHẮC TRUST — ĐINH CỦA BÀI</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AI không được phép nói mà không chỉ tay</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04</a:t>
            </a:r>
          </a:p>
        </p:txBody>
      </p:sp>
      <p:sp>
        <p:nvSpPr>
          <p:cNvPr id="9" name="Rounded Rectangle 8"/>
          <p:cNvSpPr/>
          <p:nvPr/>
        </p:nvSpPr>
        <p:spPr>
          <a:xfrm>
            <a:off x="502920" y="1600200"/>
            <a:ext cx="5486400" cy="4206240"/>
          </a:xfrm>
          <a:prstGeom prst="roundRect">
            <a:avLst>
              <a:gd name="adj" fmla="val 5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74519"/>
            <a:ext cx="4846320" cy="457200"/>
          </a:xfrm>
          <a:prstGeom prst="rect">
            <a:avLst/>
          </a:prstGeom>
          <a:noFill/>
        </p:spPr>
        <p:txBody>
          <a:bodyPr wrap="square" anchor="t" lIns="0" rIns="0" tIns="0" bIns="0">
            <a:spAutoFit/>
          </a:bodyPr>
          <a:lstStyle/>
          <a:p>
            <a:pPr algn="l">
              <a:lnSpc>
                <a:spcPct val="100000"/>
              </a:lnSpc>
              <a:spcAft>
                <a:spcPts val="600"/>
              </a:spcAft>
            </a:pPr>
            <a:r>
              <a:rPr sz="1300" b="1" i="0">
                <a:solidFill>
                  <a:srgbClr val="C25605"/>
                </a:solidFill>
                <a:latin typeface="Arial"/>
              </a:rPr>
              <a:t>TRUY VẾT TỪNG CON SỐ</a:t>
            </a:r>
          </a:p>
        </p:txBody>
      </p:sp>
      <p:sp>
        <p:nvSpPr>
          <p:cNvPr id="11" name="TextBox 10"/>
          <p:cNvSpPr txBox="1"/>
          <p:nvPr/>
        </p:nvSpPr>
        <p:spPr>
          <a:xfrm>
            <a:off x="822960" y="2286000"/>
            <a:ext cx="4892040" cy="3291840"/>
          </a:xfrm>
          <a:prstGeom prst="rect">
            <a:avLst/>
          </a:prstGeom>
          <a:noFill/>
        </p:spPr>
        <p:txBody>
          <a:bodyPr wrap="square" anchor="t" lIns="0" rIns="0" tIns="0" bIns="0">
            <a:spAutoFit/>
          </a:bodyPr>
          <a:lstStyle/>
          <a:p>
            <a:pPr algn="l">
              <a:lnSpc>
                <a:spcPct val="115000"/>
              </a:lnSpc>
              <a:spcAft>
                <a:spcPts val="600"/>
              </a:spcAft>
            </a:pPr>
            <a:r>
              <a:rPr sz="1600" b="0" i="0">
                <a:solidFill>
                  <a:srgbClr val="0E1F3D"/>
                </a:solidFill>
                <a:latin typeface="Arial"/>
              </a:rPr>
              <a:t>Click một trường — bản scan gốc mở đúng vị trí, khoanh cam từng dòng, phần còn lại làm mờ.</a:t>
            </a:r>
          </a:p>
          <a:p>
            <a:pPr algn="l">
              <a:lnSpc>
                <a:spcPct val="115000"/>
              </a:lnSpc>
              <a:spcAft>
                <a:spcPts val="600"/>
              </a:spcAft>
            </a:pPr>
            <a:r>
              <a:rPr sz="1800" b="0" i="0">
                <a:solidFill>
                  <a:srgbClr val="0E1F3D"/>
                </a:solidFill>
                <a:latin typeface="Arial"/>
              </a:rPr>
              <a:t/>
            </a:r>
          </a:p>
          <a:p>
            <a:pPr algn="l">
              <a:lnSpc>
                <a:spcPct val="115000"/>
              </a:lnSpc>
              <a:spcAft>
                <a:spcPts val="600"/>
              </a:spcAft>
            </a:pPr>
            <a:r>
              <a:rPr sz="1600" b="0" i="0">
                <a:solidFill>
                  <a:srgbClr val="0E1F3D"/>
                </a:solidFill>
                <a:latin typeface="Arial"/>
              </a:rPr>
              <a:t>Trường không đọc được thì bỏ trống + cảnh báo. Không suy diễn, không đoán.</a:t>
            </a:r>
          </a:p>
          <a:p>
            <a:pPr algn="l">
              <a:lnSpc>
                <a:spcPct val="115000"/>
              </a:lnSpc>
              <a:spcAft>
                <a:spcPts val="600"/>
              </a:spcAft>
            </a:pPr>
            <a:r>
              <a:rPr sz="1800" b="0" i="0">
                <a:solidFill>
                  <a:srgbClr val="0E1F3D"/>
                </a:solidFill>
                <a:latin typeface="Arial"/>
              </a:rPr>
              <a:t/>
            </a:r>
          </a:p>
          <a:p>
            <a:pPr algn="l">
              <a:lnSpc>
                <a:spcPct val="115000"/>
              </a:lnSpc>
              <a:spcAft>
                <a:spcPts val="600"/>
              </a:spcAft>
            </a:pPr>
            <a:r>
              <a:rPr sz="1400" b="0" i="0">
                <a:solidFill>
                  <a:srgbClr val="51617F"/>
                </a:solidFill>
                <a:latin typeface="Arial"/>
              </a:rPr>
              <a:t>Giá trị nào cũng có box_2d trỏ về bản gốc, lưu cùng dữ liệu.</a:t>
            </a:r>
          </a:p>
        </p:txBody>
      </p:sp>
      <p:sp>
        <p:nvSpPr>
          <p:cNvPr id="12" name="Rounded Rectangle 11"/>
          <p:cNvSpPr/>
          <p:nvPr/>
        </p:nvSpPr>
        <p:spPr>
          <a:xfrm>
            <a:off x="6263640" y="1600200"/>
            <a:ext cx="5440680" cy="4206240"/>
          </a:xfrm>
          <a:prstGeom prst="roundRect">
            <a:avLst>
              <a:gd name="adj" fmla="val 5000"/>
            </a:avLst>
          </a:prstGeom>
          <a:solidFill>
            <a:srgbClr val="FFFFFF"/>
          </a:solidFill>
          <a:ln w="1524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874519"/>
            <a:ext cx="4846320" cy="457200"/>
          </a:xfrm>
          <a:prstGeom prst="rect">
            <a:avLst/>
          </a:prstGeom>
          <a:noFill/>
        </p:spPr>
        <p:txBody>
          <a:bodyPr wrap="square" anchor="t" lIns="0" rIns="0" tIns="0" bIns="0">
            <a:spAutoFit/>
          </a:bodyPr>
          <a:lstStyle/>
          <a:p>
            <a:pPr algn="l">
              <a:lnSpc>
                <a:spcPct val="100000"/>
              </a:lnSpc>
              <a:spcAft>
                <a:spcPts val="600"/>
              </a:spcAft>
            </a:pPr>
            <a:r>
              <a:rPr sz="1300" b="1" i="0">
                <a:solidFill>
                  <a:srgbClr val="BE123C"/>
                </a:solidFill>
                <a:latin typeface="Arial"/>
              </a:rPr>
              <a:t>CẢNH BÁO TRỌNG YẾU</a:t>
            </a:r>
          </a:p>
        </p:txBody>
      </p:sp>
      <p:sp>
        <p:nvSpPr>
          <p:cNvPr id="14" name="TextBox 13"/>
          <p:cNvSpPr txBox="1"/>
          <p:nvPr/>
        </p:nvSpPr>
        <p:spPr>
          <a:xfrm>
            <a:off x="6583680" y="2286000"/>
            <a:ext cx="4846320" cy="3291840"/>
          </a:xfrm>
          <a:prstGeom prst="rect">
            <a:avLst/>
          </a:prstGeom>
          <a:noFill/>
        </p:spPr>
        <p:txBody>
          <a:bodyPr wrap="square" anchor="t" lIns="0" rIns="0" tIns="0" bIns="0">
            <a:spAutoFit/>
          </a:bodyPr>
          <a:lstStyle/>
          <a:p>
            <a:pPr algn="l">
              <a:lnSpc>
                <a:spcPct val="115000"/>
              </a:lnSpc>
              <a:spcAft>
                <a:spcPts val="600"/>
              </a:spcAft>
            </a:pPr>
            <a:r>
              <a:rPr sz="1600" b="1" i="0">
                <a:solidFill>
                  <a:srgbClr val="0E1F3D"/>
                </a:solidFill>
                <a:latin typeface="Arial"/>
              </a:rPr>
              <a:t>Số CCCD trên hợp đồng lệch với đơn vay — hệ thống tự bắt.</a:t>
            </a:r>
          </a:p>
          <a:p>
            <a:pPr algn="l">
              <a:lnSpc>
                <a:spcPct val="115000"/>
              </a:lnSpc>
              <a:spcAft>
                <a:spcPts val="600"/>
              </a:spcAft>
            </a:pPr>
            <a:r>
              <a:rPr sz="1800" b="0" i="0">
                <a:solidFill>
                  <a:srgbClr val="0E1F3D"/>
                </a:solidFill>
                <a:latin typeface="Arial"/>
              </a:rPr>
              <a:t/>
            </a:r>
          </a:p>
          <a:p>
            <a:pPr algn="l">
              <a:lnSpc>
                <a:spcPct val="115000"/>
              </a:lnSpc>
              <a:spcAft>
                <a:spcPts val="600"/>
              </a:spcAft>
            </a:pPr>
            <a:r>
              <a:rPr sz="1600" b="0" i="0">
                <a:solidFill>
                  <a:srgbClr val="0E1F3D"/>
                </a:solidFill>
                <a:latin typeface="Arial"/>
              </a:rPr>
              <a:t>Click ô lệch: hai bản gốc mở cạnh nhau, mỗi bên khoanh đúng chỗ mâu thuẫn. Chọn bản đúng — hoặc cả hai đều sai thì nhập tay, áp cho mọi nguồn.</a:t>
            </a:r>
          </a:p>
          <a:p>
            <a:pPr algn="l">
              <a:lnSpc>
                <a:spcPct val="115000"/>
              </a:lnSpc>
              <a:spcAft>
                <a:spcPts val="600"/>
              </a:spcAft>
            </a:pPr>
            <a:r>
              <a:rPr sz="1800" b="0" i="0">
                <a:solidFill>
                  <a:srgbClr val="0E1F3D"/>
                </a:solidFill>
                <a:latin typeface="Arial"/>
              </a:rPr>
              <a:t/>
            </a:r>
          </a:p>
          <a:p>
            <a:pPr algn="l">
              <a:lnSpc>
                <a:spcPct val="115000"/>
              </a:lnSpc>
              <a:spcAft>
                <a:spcPts val="600"/>
              </a:spcAft>
            </a:pPr>
            <a:r>
              <a:rPr sz="1500" b="1" i="0">
                <a:solidFill>
                  <a:srgbClr val="C25605"/>
                </a:solidFill>
                <a:latin typeface="Arial"/>
              </a:rPr>
              <a:t>Đây không phải OCR. Đây là một lớp kiểm soát rủi 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HUMAN-IN-THE-LOOP &amp; VẬN HÀNH</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Người quyết — máy ghi vết</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05</a:t>
            </a:r>
          </a:p>
        </p:txBody>
      </p:sp>
      <p:sp>
        <p:nvSpPr>
          <p:cNvPr id="9" name="Rectangle 8"/>
          <p:cNvSpPr/>
          <p:nvPr/>
        </p:nvSpPr>
        <p:spPr>
          <a:xfrm>
            <a:off x="502920" y="1728216"/>
            <a:ext cx="128016" cy="128016"/>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45920"/>
            <a:ext cx="3108960" cy="91440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Hiệu chỉnh tại chỗ</a:t>
            </a:r>
          </a:p>
        </p:txBody>
      </p:sp>
      <p:sp>
        <p:nvSpPr>
          <p:cNvPr id="11" name="TextBox 10"/>
          <p:cNvSpPr txBox="1"/>
          <p:nvPr/>
        </p:nvSpPr>
        <p:spPr>
          <a:xfrm>
            <a:off x="4160520" y="1645920"/>
            <a:ext cx="7498079" cy="914400"/>
          </a:xfrm>
          <a:prstGeom prst="rect">
            <a:avLst/>
          </a:prstGeom>
          <a:noFill/>
        </p:spPr>
        <p:txBody>
          <a:bodyPr wrap="square" anchor="t" lIns="0" rIns="0" tIns="0" bIns="0">
            <a:spAutoFit/>
          </a:bodyPr>
          <a:lstStyle/>
          <a:p>
            <a:pPr algn="l">
              <a:lnSpc>
                <a:spcPct val="110000"/>
              </a:lnSpc>
              <a:spcAft>
                <a:spcPts val="600"/>
              </a:spcAft>
            </a:pPr>
            <a:r>
              <a:rPr sz="1550" b="0" i="0">
                <a:solidFill>
                  <a:srgbClr val="51617F"/>
                </a:solidFill>
                <a:latin typeface="Arial"/>
              </a:rPr>
              <a:t>Nhấp đúp sửa một trường — ai sửa, lúc nào, giá trị cũ và mới đều vào nhật ký kiểm toán.</a:t>
            </a:r>
          </a:p>
        </p:txBody>
      </p:sp>
      <p:sp>
        <p:nvSpPr>
          <p:cNvPr id="12" name="Rectangle 11"/>
          <p:cNvSpPr/>
          <p:nvPr/>
        </p:nvSpPr>
        <p:spPr>
          <a:xfrm>
            <a:off x="502920" y="2752344"/>
            <a:ext cx="128016" cy="128016"/>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70048"/>
            <a:ext cx="3108960" cy="91440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Hàng chờ theo độ tin cậy</a:t>
            </a:r>
          </a:p>
        </p:txBody>
      </p:sp>
      <p:sp>
        <p:nvSpPr>
          <p:cNvPr id="14" name="TextBox 13"/>
          <p:cNvSpPr txBox="1"/>
          <p:nvPr/>
        </p:nvSpPr>
        <p:spPr>
          <a:xfrm>
            <a:off x="4160520" y="2670048"/>
            <a:ext cx="7498079" cy="914400"/>
          </a:xfrm>
          <a:prstGeom prst="rect">
            <a:avLst/>
          </a:prstGeom>
          <a:noFill/>
        </p:spPr>
        <p:txBody>
          <a:bodyPr wrap="square" anchor="t" lIns="0" rIns="0" tIns="0" bIns="0">
            <a:spAutoFit/>
          </a:bodyPr>
          <a:lstStyle/>
          <a:p>
            <a:pPr algn="l">
              <a:lnSpc>
                <a:spcPct val="110000"/>
              </a:lnSpc>
              <a:spcAft>
                <a:spcPts val="600"/>
              </a:spcAft>
            </a:pPr>
            <a:r>
              <a:rPr sz="1550" b="0" i="0">
                <a:solidFill>
                  <a:srgbClr val="51617F"/>
                </a:solidFill>
                <a:latin typeface="Arial"/>
              </a:rPr>
              <a:t>Trường tin cậy thấp tự đánh vàng/đỏ, bộ hồ sơ chuyển trạng thái chờ duyệt.</a:t>
            </a:r>
          </a:p>
        </p:txBody>
      </p:sp>
      <p:sp>
        <p:nvSpPr>
          <p:cNvPr id="15" name="Rectangle 14"/>
          <p:cNvSpPr/>
          <p:nvPr/>
        </p:nvSpPr>
        <p:spPr>
          <a:xfrm>
            <a:off x="502920" y="3776472"/>
            <a:ext cx="128016" cy="128016"/>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6"/>
            <a:ext cx="3108960" cy="91440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Dashboard quản lý</a:t>
            </a:r>
          </a:p>
        </p:txBody>
      </p:sp>
      <p:sp>
        <p:nvSpPr>
          <p:cNvPr id="17" name="TextBox 16"/>
          <p:cNvSpPr txBox="1"/>
          <p:nvPr/>
        </p:nvSpPr>
        <p:spPr>
          <a:xfrm>
            <a:off x="4160520" y="3694176"/>
            <a:ext cx="7498079" cy="914400"/>
          </a:xfrm>
          <a:prstGeom prst="rect">
            <a:avLst/>
          </a:prstGeom>
          <a:noFill/>
        </p:spPr>
        <p:txBody>
          <a:bodyPr wrap="square" anchor="t" lIns="0" rIns="0" tIns="0" bIns="0">
            <a:spAutoFit/>
          </a:bodyPr>
          <a:lstStyle/>
          <a:p>
            <a:pPr algn="l">
              <a:lnSpc>
                <a:spcPct val="110000"/>
              </a:lnSpc>
              <a:spcAft>
                <a:spcPts val="600"/>
              </a:spcAft>
            </a:pPr>
            <a:r>
              <a:rPr sz="1550" b="0" i="0">
                <a:solidFill>
                  <a:srgbClr val="51617F"/>
                </a:solidFill>
                <a:latin typeface="Arial"/>
              </a:rPr>
              <a:t>KPI phòng: % trường tự động, thời gian trung bình, cảnh báo trọng yếu — cán bộ quản lý nhìn thấy cả phòng.</a:t>
            </a:r>
          </a:p>
        </p:txBody>
      </p:sp>
      <p:sp>
        <p:nvSpPr>
          <p:cNvPr id="18" name="Rectangle 17"/>
          <p:cNvSpPr/>
          <p:nvPr/>
        </p:nvSpPr>
        <p:spPr>
          <a:xfrm>
            <a:off x="502920" y="4800600"/>
            <a:ext cx="128016" cy="128016"/>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718304"/>
            <a:ext cx="3108960" cy="91440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Xuất core-banking</a:t>
            </a:r>
          </a:p>
        </p:txBody>
      </p:sp>
      <p:sp>
        <p:nvSpPr>
          <p:cNvPr id="20" name="TextBox 19"/>
          <p:cNvSpPr txBox="1"/>
          <p:nvPr/>
        </p:nvSpPr>
        <p:spPr>
          <a:xfrm>
            <a:off x="4160520" y="4718304"/>
            <a:ext cx="7498079" cy="914400"/>
          </a:xfrm>
          <a:prstGeom prst="rect">
            <a:avLst/>
          </a:prstGeom>
          <a:noFill/>
        </p:spPr>
        <p:txBody>
          <a:bodyPr wrap="square" anchor="t" lIns="0" rIns="0" tIns="0" bIns="0">
            <a:spAutoFit/>
          </a:bodyPr>
          <a:lstStyle/>
          <a:p>
            <a:pPr algn="l">
              <a:lnSpc>
                <a:spcPct val="110000"/>
              </a:lnSpc>
              <a:spcAft>
                <a:spcPts val="600"/>
              </a:spcAft>
            </a:pPr>
            <a:r>
              <a:rPr sz="1550" b="0" i="0">
                <a:solidFill>
                  <a:srgbClr val="51617F"/>
                </a:solidFill>
                <a:latin typeface="Arial"/>
              </a:rPr>
              <a:t>Payload CIF + metadata tích hợp, nhắm core Intellect (SOA/ESB) qua adapter — không đụng 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KẾT QUẢ</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Số liệu đo thật — không phải ước lượng</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06</a:t>
            </a:r>
          </a:p>
        </p:txBody>
      </p:sp>
      <p:sp>
        <p:nvSpPr>
          <p:cNvPr id="9" name="Rounded Rectangle 8"/>
          <p:cNvSpPr/>
          <p:nvPr/>
        </p:nvSpPr>
        <p:spPr>
          <a:xfrm>
            <a:off x="502920" y="1645920"/>
            <a:ext cx="5486400" cy="196596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5029200" cy="822960"/>
          </a:xfrm>
          <a:prstGeom prst="rect">
            <a:avLst/>
          </a:prstGeom>
          <a:noFill/>
        </p:spPr>
        <p:txBody>
          <a:bodyPr wrap="square" anchor="t" lIns="0" rIns="0" tIns="0" bIns="0">
            <a:spAutoFit/>
          </a:bodyPr>
          <a:lstStyle/>
          <a:p>
            <a:pPr algn="l">
              <a:lnSpc>
                <a:spcPct val="100000"/>
              </a:lnSpc>
              <a:spcAft>
                <a:spcPts val="600"/>
              </a:spcAft>
            </a:pPr>
            <a:r>
              <a:rPr sz="4000" b="1" i="0">
                <a:solidFill>
                  <a:srgbClr val="C25605"/>
                </a:solidFill>
                <a:latin typeface="Arial"/>
              </a:rPr>
              <a:t>95%</a:t>
            </a:r>
          </a:p>
        </p:txBody>
      </p:sp>
      <p:sp>
        <p:nvSpPr>
          <p:cNvPr id="11" name="TextBox 10"/>
          <p:cNvSpPr txBox="1"/>
          <p:nvPr/>
        </p:nvSpPr>
        <p:spPr>
          <a:xfrm>
            <a:off x="731520" y="2743200"/>
            <a:ext cx="5029200" cy="777240"/>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trường trích đúng (12 lượt đo có ground truth; 84% nếu tính cả lượt lỗi hạ tầng — công bố cả hai)</a:t>
            </a:r>
          </a:p>
        </p:txBody>
      </p:sp>
      <p:sp>
        <p:nvSpPr>
          <p:cNvPr id="12" name="Rounded Rectangle 11"/>
          <p:cNvSpPr/>
          <p:nvPr/>
        </p:nvSpPr>
        <p:spPr>
          <a:xfrm>
            <a:off x="6217920" y="1645920"/>
            <a:ext cx="5486400" cy="196596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5029200" cy="822960"/>
          </a:xfrm>
          <a:prstGeom prst="rect">
            <a:avLst/>
          </a:prstGeom>
          <a:noFill/>
        </p:spPr>
        <p:txBody>
          <a:bodyPr wrap="square" anchor="t" lIns="0" rIns="0" tIns="0" bIns="0">
            <a:spAutoFit/>
          </a:bodyPr>
          <a:lstStyle/>
          <a:p>
            <a:pPr algn="l">
              <a:lnSpc>
                <a:spcPct val="100000"/>
              </a:lnSpc>
              <a:spcAft>
                <a:spcPts val="600"/>
              </a:spcAft>
            </a:pPr>
            <a:r>
              <a:rPr sz="4000" b="1" i="0">
                <a:solidFill>
                  <a:srgbClr val="C25605"/>
                </a:solidFill>
                <a:latin typeface="Arial"/>
              </a:rPr>
              <a:t>p50 26 giây</a:t>
            </a:r>
          </a:p>
        </p:txBody>
      </p:sp>
      <p:sp>
        <p:nvSpPr>
          <p:cNvPr id="14" name="TextBox 13"/>
          <p:cNvSpPr txBox="1"/>
          <p:nvPr/>
        </p:nvSpPr>
        <p:spPr>
          <a:xfrm>
            <a:off x="6446520" y="2743200"/>
            <a:ext cx="5029200" cy="777240"/>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mỗi chứng từ — các file chạy song song nên cả bộ chỉ bằng file chậm nhất</a:t>
            </a:r>
          </a:p>
        </p:txBody>
      </p:sp>
      <p:sp>
        <p:nvSpPr>
          <p:cNvPr id="15" name="Rounded Rectangle 14"/>
          <p:cNvSpPr/>
          <p:nvPr/>
        </p:nvSpPr>
        <p:spPr>
          <a:xfrm>
            <a:off x="502920" y="3840480"/>
            <a:ext cx="5486400" cy="196596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23360"/>
            <a:ext cx="5029200" cy="822960"/>
          </a:xfrm>
          <a:prstGeom prst="rect">
            <a:avLst/>
          </a:prstGeom>
          <a:noFill/>
        </p:spPr>
        <p:txBody>
          <a:bodyPr wrap="square" anchor="t" lIns="0" rIns="0" tIns="0" bIns="0">
            <a:spAutoFit/>
          </a:bodyPr>
          <a:lstStyle/>
          <a:p>
            <a:pPr algn="l">
              <a:lnSpc>
                <a:spcPct val="100000"/>
              </a:lnSpc>
              <a:spcAft>
                <a:spcPts val="600"/>
              </a:spcAft>
            </a:pPr>
            <a:r>
              <a:rPr sz="4000" b="1" i="0">
                <a:solidFill>
                  <a:srgbClr val="C25605"/>
                </a:solidFill>
                <a:latin typeface="Arial"/>
              </a:rPr>
              <a:t>&lt; 500đ</a:t>
            </a:r>
          </a:p>
        </p:txBody>
      </p:sp>
      <p:sp>
        <p:nvSpPr>
          <p:cNvPr id="17" name="TextBox 16"/>
          <p:cNvSpPr txBox="1"/>
          <p:nvPr/>
        </p:nvSpPr>
        <p:spPr>
          <a:xfrm>
            <a:off x="731520" y="4937760"/>
            <a:ext cx="5029200" cy="777240"/>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chi phí AI cho một bộ hồ sơ 4 chứng từ — hai lớp cache theo nội dung file</a:t>
            </a:r>
          </a:p>
        </p:txBody>
      </p:sp>
      <p:sp>
        <p:nvSpPr>
          <p:cNvPr id="18" name="Rounded Rectangle 17"/>
          <p:cNvSpPr/>
          <p:nvPr/>
        </p:nvSpPr>
        <p:spPr>
          <a:xfrm>
            <a:off x="6217920" y="3840480"/>
            <a:ext cx="5486400" cy="196596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023360"/>
            <a:ext cx="5029200" cy="822960"/>
          </a:xfrm>
          <a:prstGeom prst="rect">
            <a:avLst/>
          </a:prstGeom>
          <a:noFill/>
        </p:spPr>
        <p:txBody>
          <a:bodyPr wrap="square" anchor="t" lIns="0" rIns="0" tIns="0" bIns="0">
            <a:spAutoFit/>
          </a:bodyPr>
          <a:lstStyle/>
          <a:p>
            <a:pPr algn="l">
              <a:lnSpc>
                <a:spcPct val="100000"/>
              </a:lnSpc>
              <a:spcAft>
                <a:spcPts val="600"/>
              </a:spcAft>
            </a:pPr>
            <a:r>
              <a:rPr sz="4000" b="1" i="0">
                <a:solidFill>
                  <a:srgbClr val="C25605"/>
                </a:solidFill>
                <a:latin typeface="Arial"/>
              </a:rPr>
              <a:t>3/3</a:t>
            </a:r>
          </a:p>
        </p:txBody>
      </p:sp>
      <p:sp>
        <p:nvSpPr>
          <p:cNvPr id="20" name="TextBox 19"/>
          <p:cNvSpPr txBox="1"/>
          <p:nvPr/>
        </p:nvSpPr>
        <p:spPr>
          <a:xfrm>
            <a:off x="6446520" y="4937760"/>
            <a:ext cx="5029200" cy="777240"/>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ảnh chụp điện thoại nghiêng/mờ/nhiễu phân loại đúng — vẫn bắt được CCCD lệch giữa hai bản scan xấu</a:t>
            </a:r>
          </a:p>
        </p:txBody>
      </p:sp>
      <p:sp>
        <p:nvSpPr>
          <p:cNvPr id="21" name="TextBox 20"/>
          <p:cNvSpPr txBox="1"/>
          <p:nvPr/>
        </p:nvSpPr>
        <p:spPr>
          <a:xfrm>
            <a:off x="502920" y="5989320"/>
            <a:ext cx="11155680" cy="365760"/>
          </a:xfrm>
          <a:prstGeom prst="rect">
            <a:avLst/>
          </a:prstGeom>
          <a:noFill/>
        </p:spPr>
        <p:txBody>
          <a:bodyPr wrap="square" anchor="t" lIns="0" rIns="0" tIns="0" bIns="0">
            <a:spAutoFit/>
          </a:bodyPr>
          <a:lstStyle/>
          <a:p>
            <a:pPr algn="l">
              <a:lnSpc>
                <a:spcPct val="100000"/>
              </a:lnSpc>
              <a:spcAft>
                <a:spcPts val="600"/>
              </a:spcAft>
            </a:pPr>
            <a:r>
              <a:rPr sz="1200" b="0" i="0">
                <a:solidFill>
                  <a:srgbClr val="51617F"/>
                </a:solidFill>
                <a:latin typeface="Arial"/>
              </a:rPr>
              <a:t>Đo trên production · benchmark + script công khai trong repo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KỸ THUẬT</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Kiến trúc AI-native — serverless toàn tuyến</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07</a:t>
            </a:r>
          </a:p>
        </p:txBody>
      </p:sp>
      <p:sp>
        <p:nvSpPr>
          <p:cNvPr id="9" name="Rounded Rectangle 8"/>
          <p:cNvSpPr/>
          <p:nvPr/>
        </p:nvSpPr>
        <p:spPr>
          <a:xfrm>
            <a:off x="502920" y="1828800"/>
            <a:ext cx="2377440" cy="1005840"/>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React SPA</a:t>
            </a:r>
          </a:p>
          <a:p>
            <a:pPr algn="ctr"/>
            <a:r>
              <a:rPr sz="1050">
                <a:solidFill>
                  <a:srgbClr val="FFFFFF"/>
                </a:solidFill>
                <a:latin typeface="Arial"/>
              </a:rPr>
              <a:t>Cloudflare Workers</a:t>
            </a:r>
          </a:p>
        </p:txBody>
      </p:sp>
      <p:sp>
        <p:nvSpPr>
          <p:cNvPr id="10" name="Right Arrow 9"/>
          <p:cNvSpPr/>
          <p:nvPr/>
        </p:nvSpPr>
        <p:spPr>
          <a:xfrm>
            <a:off x="2971800" y="2194560"/>
            <a:ext cx="457200" cy="274320"/>
          </a:xfrm>
          <a:prstGeom prst="right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40" y="1828800"/>
            <a:ext cx="2377440" cy="1005840"/>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Worker API (Hono)</a:t>
            </a:r>
          </a:p>
          <a:p>
            <a:pPr algn="ctr"/>
            <a:r>
              <a:rPr sz="1050">
                <a:solidFill>
                  <a:srgbClr val="FFFFFF"/>
                </a:solidFill>
                <a:latin typeface="Arial"/>
              </a:rPr>
              <a:t>orchestrator + cross-check</a:t>
            </a:r>
          </a:p>
        </p:txBody>
      </p:sp>
      <p:sp>
        <p:nvSpPr>
          <p:cNvPr id="12" name="Right Arrow 11"/>
          <p:cNvSpPr/>
          <p:nvPr/>
        </p:nvSpPr>
        <p:spPr>
          <a:xfrm>
            <a:off x="5989320" y="2194560"/>
            <a:ext cx="457200" cy="274320"/>
          </a:xfrm>
          <a:prstGeom prst="right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37960" y="1828800"/>
            <a:ext cx="2514600" cy="1005840"/>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Cloud Run proxy</a:t>
            </a:r>
          </a:p>
          <a:p>
            <a:pPr algn="ctr"/>
            <a:r>
              <a:rPr sz="1050">
                <a:solidFill>
                  <a:srgbClr val="FFFFFF"/>
                </a:solidFill>
                <a:latin typeface="Arial"/>
              </a:rPr>
              <a:t>service account ADC — zero key file</a:t>
            </a:r>
          </a:p>
        </p:txBody>
      </p:sp>
      <p:sp>
        <p:nvSpPr>
          <p:cNvPr id="14" name="Right Arrow 13"/>
          <p:cNvSpPr/>
          <p:nvPr/>
        </p:nvSpPr>
        <p:spPr>
          <a:xfrm>
            <a:off x="9125712" y="2194560"/>
            <a:ext cx="457200" cy="274320"/>
          </a:xfrm>
          <a:prstGeom prst="right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46920" y="1828800"/>
            <a:ext cx="2057400" cy="1005840"/>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Vertex AI</a:t>
            </a:r>
          </a:p>
          <a:p>
            <a:pPr algn="ctr"/>
            <a:r>
              <a:rPr sz="1050">
                <a:solidFill>
                  <a:srgbClr val="FFFFFF"/>
                </a:solidFill>
                <a:latin typeface="Arial"/>
              </a:rPr>
              <a:t>Gemini Flash</a:t>
            </a:r>
          </a:p>
        </p:txBody>
      </p:sp>
      <p:sp>
        <p:nvSpPr>
          <p:cNvPr id="16" name="Rounded Rectangle 15"/>
          <p:cNvSpPr/>
          <p:nvPr/>
        </p:nvSpPr>
        <p:spPr>
          <a:xfrm>
            <a:off x="3520440" y="3383280"/>
            <a:ext cx="2377440" cy="1005840"/>
          </a:xfrm>
          <a:prstGeom prst="roundRect">
            <a:avLst>
              <a:gd name="adj" fmla="val 10000"/>
            </a:avLst>
          </a:prstGeom>
          <a:solidFill>
            <a:srgbClr val="1A2F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Supabase</a:t>
            </a:r>
          </a:p>
          <a:p>
            <a:pPr algn="ctr"/>
            <a:r>
              <a:rPr sz="1050">
                <a:solidFill>
                  <a:srgbClr val="FFFFFF"/>
                </a:solidFill>
                <a:latin typeface="Arial"/>
              </a:rPr>
              <a:t>Postgres + Storage + RLS</a:t>
            </a:r>
          </a:p>
        </p:txBody>
      </p:sp>
      <p:sp>
        <p:nvSpPr>
          <p:cNvPr id="17" name="Rounded Rectangle 16"/>
          <p:cNvSpPr/>
          <p:nvPr/>
        </p:nvSpPr>
        <p:spPr>
          <a:xfrm>
            <a:off x="6537960" y="3383280"/>
            <a:ext cx="2514600" cy="1005840"/>
          </a:xfrm>
          <a:prstGeom prst="roundRect">
            <a:avLst>
              <a:gd name="adj" fmla="val 10000"/>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PyTorch router</a:t>
            </a:r>
          </a:p>
          <a:p>
            <a:pPr algn="ctr"/>
            <a:r>
              <a:rPr sz="1050">
                <a:solidFill>
                  <a:srgbClr val="FFFFFF"/>
                </a:solidFill>
                <a:latin typeface="Arial"/>
              </a:rPr>
              <a:t>ResNet18 TorchScript · Cloud Run</a:t>
            </a:r>
          </a:p>
        </p:txBody>
      </p:sp>
      <p:sp>
        <p:nvSpPr>
          <p:cNvPr id="18" name="TextBox 17"/>
          <p:cNvSpPr txBox="1"/>
          <p:nvPr/>
        </p:nvSpPr>
        <p:spPr>
          <a:xfrm>
            <a:off x="502920" y="4754880"/>
            <a:ext cx="11155680" cy="1463040"/>
          </a:xfrm>
          <a:prstGeom prst="rect">
            <a:avLst/>
          </a:prstGeom>
          <a:noFill/>
        </p:spPr>
        <p:txBody>
          <a:bodyPr wrap="square" anchor="t" lIns="0" rIns="0" tIns="0" bIns="0">
            <a:spAutoFit/>
          </a:bodyPr>
          <a:lstStyle/>
          <a:p>
            <a:pPr algn="l">
              <a:lnSpc>
                <a:spcPct val="118000"/>
              </a:lnSpc>
              <a:spcAft>
                <a:spcPts val="600"/>
              </a:spcAft>
            </a:pPr>
            <a:r>
              <a:rPr sz="1500" b="1" i="0">
                <a:solidFill>
                  <a:srgbClr val="0E1F3D"/>
                </a:solidFill>
                <a:latin typeface="Arial"/>
              </a:rPr>
              <a:t>Không một credential file nào tồn tại trong hệ thống</a:t>
            </a:r>
            <a:r>
              <a:rPr sz="1500" b="0" i="0">
                <a:solidFill>
                  <a:srgbClr val="51617F"/>
                </a:solidFill>
                <a:latin typeface="Arial"/>
              </a:rPr>
              <a:t> — Cloud Run chạy bằng service account ADC, org policy chặn tạo key.</a:t>
            </a:r>
          </a:p>
          <a:p>
            <a:pPr algn="l">
              <a:lnSpc>
                <a:spcPct val="118000"/>
              </a:lnSpc>
              <a:spcAft>
                <a:spcPts val="600"/>
              </a:spcAft>
            </a:pPr>
            <a:r>
              <a:rPr sz="1500" b="1" i="0">
                <a:solidFill>
                  <a:srgbClr val="0E1F3D"/>
                </a:solidFill>
                <a:latin typeface="Arial"/>
              </a:rPr>
              <a:t>100% code AI sinh trong 48h</a:t>
            </a:r>
            <a:r>
              <a:rPr sz="1500" b="0" i="0">
                <a:solidFill>
                  <a:srgbClr val="51617F"/>
                </a:solidFill>
                <a:latin typeface="Arial"/>
              </a:rPr>
              <a:t> — nhật ký cộng tác AI đầy đủ (AI-LOG.md + session files).</a:t>
            </a:r>
          </a:p>
          <a:p>
            <a:pPr algn="l">
              <a:lnSpc>
                <a:spcPct val="118000"/>
              </a:lnSpc>
              <a:spcAft>
                <a:spcPts val="600"/>
              </a:spcAft>
            </a:pPr>
            <a:r>
              <a:rPr sz="1500" b="1" i="0">
                <a:solidFill>
                  <a:srgbClr val="0E1F3D"/>
                </a:solidFill>
                <a:latin typeface="Arial"/>
              </a:rPr>
              <a:t>Chi phí tuyến tính theo trang</a:t>
            </a:r>
            <a:r>
              <a:rPr sz="1500" b="0" i="0">
                <a:solidFill>
                  <a:srgbClr val="51617F"/>
                </a:solidFill>
                <a:latin typeface="Arial"/>
              </a:rPr>
              <a:t> — serverless toàn tuyến, cache 2 lớp theo nội dung file.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META PYTORCH AWARD</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PyTorch là router, không phải đồ trang trí</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08</a:t>
            </a:r>
          </a:p>
        </p:txBody>
      </p:sp>
      <p:sp>
        <p:nvSpPr>
          <p:cNvPr id="9" name="TextBox 8"/>
          <p:cNvSpPr txBox="1"/>
          <p:nvPr/>
        </p:nvSpPr>
        <p:spPr>
          <a:xfrm>
            <a:off x="502920" y="1645920"/>
            <a:ext cx="5852160" cy="4114800"/>
          </a:xfrm>
          <a:prstGeom prst="rect">
            <a:avLst/>
          </a:prstGeom>
          <a:noFill/>
        </p:spPr>
        <p:txBody>
          <a:bodyPr wrap="square" anchor="t" lIns="0" rIns="0" tIns="0" bIns="0">
            <a:spAutoFit/>
          </a:bodyPr>
          <a:lstStyle/>
          <a:p>
            <a:pPr algn="l">
              <a:lnSpc>
                <a:spcPct val="112000"/>
              </a:lnSpc>
              <a:spcAft>
                <a:spcPts val="600"/>
              </a:spcAft>
            </a:pPr>
            <a:r>
              <a:rPr sz="1800" b="1" i="0">
                <a:solidFill>
                  <a:srgbClr val="0E1F3D"/>
                </a:solidFill>
                <a:latin typeface="Arial"/>
              </a:rPr>
              <a:t>ResNet18 fine-tune ngay tại sự kiện</a:t>
            </a:r>
          </a:p>
          <a:p>
            <a:pPr algn="l">
              <a:lnSpc>
                <a:spcPct val="112000"/>
              </a:lnSpc>
              <a:spcAft>
                <a:spcPts val="600"/>
              </a:spcAft>
            </a:pPr>
            <a:r>
              <a:rPr sz="1500" b="0" i="0">
                <a:solidFill>
                  <a:srgbClr val="51617F"/>
                </a:solidFill>
                <a:latin typeface="Arial"/>
              </a:rPr>
              <a:t>720 ảnh augmented sinh từ bộ demo — dataset tái tạo được bằng script trong repo (training/).</a:t>
            </a:r>
          </a:p>
          <a:p>
            <a:pPr algn="l">
              <a:lnSpc>
                <a:spcPct val="112000"/>
              </a:lnSpc>
              <a:spcAft>
                <a:spcPts val="600"/>
              </a:spcAft>
            </a:pPr>
            <a:r>
              <a:rPr sz="1800" b="0" i="0">
                <a:solidFill>
                  <a:srgbClr val="0E1F3D"/>
                </a:solidFill>
                <a:latin typeface="Arial"/>
              </a:rPr>
              <a:t/>
            </a:r>
          </a:p>
          <a:p>
            <a:pPr algn="l">
              <a:lnSpc>
                <a:spcPct val="112000"/>
              </a:lnSpc>
              <a:spcAft>
                <a:spcPts val="600"/>
              </a:spcAft>
            </a:pPr>
            <a:r>
              <a:rPr sz="1800" b="1" i="0">
                <a:solidFill>
                  <a:srgbClr val="0E1F3D"/>
                </a:solidFill>
                <a:latin typeface="Arial"/>
              </a:rPr>
              <a:t>Chạy TRƯỚC Gemini, quyết định luồng xử lý</a:t>
            </a:r>
          </a:p>
          <a:p>
            <a:pPr algn="l">
              <a:lnSpc>
                <a:spcPct val="112000"/>
              </a:lnSpc>
              <a:spcAft>
                <a:spcPts val="600"/>
              </a:spcAft>
            </a:pPr>
            <a:r>
              <a:rPr sz="1500" b="0" i="0">
                <a:solidFill>
                  <a:srgbClr val="51617F"/>
                </a:solidFill>
                <a:latin typeface="Arial"/>
              </a:rPr>
              <a:t>Phân loại chứng từ → định tuyến schema trích xuất + gợi ý loại vào prompt. Kết quả lưu DB, hiện chip PyTorch trên từng chứng từ.</a:t>
            </a:r>
          </a:p>
          <a:p>
            <a:pPr algn="l">
              <a:lnSpc>
                <a:spcPct val="112000"/>
              </a:lnSpc>
              <a:spcAft>
                <a:spcPts val="600"/>
              </a:spcAft>
            </a:pPr>
            <a:r>
              <a:rPr sz="1800" b="0" i="0">
                <a:solidFill>
                  <a:srgbClr val="0E1F3D"/>
                </a:solidFill>
                <a:latin typeface="Arial"/>
              </a:rPr>
              <a:t/>
            </a:r>
          </a:p>
          <a:p>
            <a:pPr algn="l">
              <a:lnSpc>
                <a:spcPct val="112000"/>
              </a:lnSpc>
              <a:spcAft>
                <a:spcPts val="600"/>
              </a:spcAft>
            </a:pPr>
            <a:r>
              <a:rPr sz="1800" b="1" i="0">
                <a:solidFill>
                  <a:srgbClr val="0E1F3D"/>
                </a:solidFill>
                <a:latin typeface="Arial"/>
              </a:rPr>
              <a:t>TorchScript serve trên Cloud Run</a:t>
            </a:r>
          </a:p>
          <a:p>
            <a:pPr algn="l">
              <a:lnSpc>
                <a:spcPct val="112000"/>
              </a:lnSpc>
              <a:spcAft>
                <a:spcPts val="600"/>
              </a:spcAft>
            </a:pPr>
            <a:r>
              <a:rPr sz="1500" b="0" i="0">
                <a:solidFill>
                  <a:srgbClr val="51617F"/>
                </a:solidFill>
                <a:latin typeface="Arial"/>
              </a:rPr>
              <a:t>Cùng service với proxy Vertex — một cửa ngõ AI duy nhất.</a:t>
            </a:r>
          </a:p>
        </p:txBody>
      </p:sp>
      <p:sp>
        <p:nvSpPr>
          <p:cNvPr id="10" name="Rounded Rectangle 9"/>
          <p:cNvSpPr/>
          <p:nvPr/>
        </p:nvSpPr>
        <p:spPr>
          <a:xfrm>
            <a:off x="6720840" y="1645920"/>
            <a:ext cx="4983480" cy="132588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828800"/>
            <a:ext cx="4526280" cy="822960"/>
          </a:xfrm>
          <a:prstGeom prst="rect">
            <a:avLst/>
          </a:prstGeom>
          <a:noFill/>
        </p:spPr>
        <p:txBody>
          <a:bodyPr wrap="square" anchor="t" lIns="0" rIns="0" tIns="0" bIns="0">
            <a:spAutoFit/>
          </a:bodyPr>
          <a:lstStyle/>
          <a:p>
            <a:pPr algn="l">
              <a:lnSpc>
                <a:spcPct val="100000"/>
              </a:lnSpc>
              <a:spcAft>
                <a:spcPts val="600"/>
              </a:spcAft>
            </a:pPr>
            <a:r>
              <a:rPr sz="2600" b="1" i="0">
                <a:solidFill>
                  <a:srgbClr val="C25605"/>
                </a:solidFill>
                <a:latin typeface="Arial"/>
              </a:rPr>
              <a:t>94.9%</a:t>
            </a:r>
          </a:p>
        </p:txBody>
      </p:sp>
      <p:sp>
        <p:nvSpPr>
          <p:cNvPr id="12" name="TextBox 11"/>
          <p:cNvSpPr txBox="1"/>
          <p:nvPr/>
        </p:nvSpPr>
        <p:spPr>
          <a:xfrm>
            <a:off x="6949440" y="2304288"/>
            <a:ext cx="4526280" cy="576072"/>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val accuracy — fine-tune 3 epochs trong sự kiện</a:t>
            </a:r>
          </a:p>
        </p:txBody>
      </p:sp>
      <p:sp>
        <p:nvSpPr>
          <p:cNvPr id="13" name="Rounded Rectangle 12"/>
          <p:cNvSpPr/>
          <p:nvPr/>
        </p:nvSpPr>
        <p:spPr>
          <a:xfrm>
            <a:off x="6720840" y="3108960"/>
            <a:ext cx="4983480" cy="132588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3291840"/>
            <a:ext cx="4526280" cy="822960"/>
          </a:xfrm>
          <a:prstGeom prst="rect">
            <a:avLst/>
          </a:prstGeom>
          <a:noFill/>
        </p:spPr>
        <p:txBody>
          <a:bodyPr wrap="square" anchor="t" lIns="0" rIns="0" tIns="0" bIns="0">
            <a:spAutoFit/>
          </a:bodyPr>
          <a:lstStyle/>
          <a:p>
            <a:pPr algn="l">
              <a:lnSpc>
                <a:spcPct val="100000"/>
              </a:lnSpc>
              <a:spcAft>
                <a:spcPts val="600"/>
              </a:spcAft>
            </a:pPr>
            <a:r>
              <a:rPr sz="2600" b="1" i="0">
                <a:solidFill>
                  <a:srgbClr val="C25605"/>
                </a:solidFill>
                <a:latin typeface="Arial"/>
              </a:rPr>
              <a:t>4/4 @ 99–100%</a:t>
            </a:r>
          </a:p>
        </p:txBody>
      </p:sp>
      <p:sp>
        <p:nvSpPr>
          <p:cNvPr id="15" name="TextBox 14"/>
          <p:cNvSpPr txBox="1"/>
          <p:nvPr/>
        </p:nvSpPr>
        <p:spPr>
          <a:xfrm>
            <a:off x="6949440" y="3767328"/>
            <a:ext cx="4526280" cy="576072"/>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phân loại đúng trên production, độ tin cậy 99–100%</a:t>
            </a:r>
          </a:p>
        </p:txBody>
      </p:sp>
      <p:sp>
        <p:nvSpPr>
          <p:cNvPr id="16" name="Rounded Rectangle 15"/>
          <p:cNvSpPr/>
          <p:nvPr/>
        </p:nvSpPr>
        <p:spPr>
          <a:xfrm>
            <a:off x="6720840" y="4572000"/>
            <a:ext cx="4983480" cy="1325880"/>
          </a:xfrm>
          <a:prstGeom prst="roundRect">
            <a:avLst>
              <a:gd name="adj" fmla="val 8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4754880"/>
            <a:ext cx="4526280" cy="822960"/>
          </a:xfrm>
          <a:prstGeom prst="rect">
            <a:avLst/>
          </a:prstGeom>
          <a:noFill/>
        </p:spPr>
        <p:txBody>
          <a:bodyPr wrap="square" anchor="t" lIns="0" rIns="0" tIns="0" bIns="0">
            <a:spAutoFit/>
          </a:bodyPr>
          <a:lstStyle/>
          <a:p>
            <a:pPr algn="l">
              <a:lnSpc>
                <a:spcPct val="100000"/>
              </a:lnSpc>
              <a:spcAft>
                <a:spcPts val="600"/>
              </a:spcAft>
            </a:pPr>
            <a:r>
              <a:rPr sz="2600" b="1" i="0">
                <a:solidFill>
                  <a:srgbClr val="C25605"/>
                </a:solidFill>
                <a:latin typeface="Arial"/>
              </a:rPr>
              <a:t>120–290ms</a:t>
            </a:r>
          </a:p>
        </p:txBody>
      </p:sp>
      <p:sp>
        <p:nvSpPr>
          <p:cNvPr id="18" name="TextBox 17"/>
          <p:cNvSpPr txBox="1"/>
          <p:nvPr/>
        </p:nvSpPr>
        <p:spPr>
          <a:xfrm>
            <a:off x="6949440" y="5230368"/>
            <a:ext cx="4526280" cy="576072"/>
          </a:xfrm>
          <a:prstGeom prst="rect">
            <a:avLst/>
          </a:prstGeom>
          <a:noFill/>
        </p:spPr>
        <p:txBody>
          <a:bodyPr wrap="square" anchor="t" lIns="0" rIns="0" tIns="0" bIns="0">
            <a:spAutoFit/>
          </a:bodyPr>
          <a:lstStyle/>
          <a:p>
            <a:pPr algn="l">
              <a:lnSpc>
                <a:spcPct val="105000"/>
              </a:lnSpc>
              <a:spcAft>
                <a:spcPts val="0"/>
              </a:spcAft>
            </a:pPr>
            <a:r>
              <a:rPr sz="1350" b="0" i="0">
                <a:solidFill>
                  <a:srgbClr val="51617F"/>
                </a:solidFill>
                <a:latin typeface="Arial"/>
              </a:rPr>
              <a:t>mỗi lượt phân loại — rẻ hơn nhiều lần gọi nhầm model lớn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CHIẾN LƯỢC CHI PHÍ &amp; CHỦ QUYỀN DỮ LIỆU</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Dùng LLM để bootstrap PyTorch</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09</a:t>
            </a:r>
          </a:p>
        </p:txBody>
      </p:sp>
      <p:sp>
        <p:nvSpPr>
          <p:cNvPr id="9" name="Rounded Rectangle 8"/>
          <p:cNvSpPr/>
          <p:nvPr/>
        </p:nvSpPr>
        <p:spPr>
          <a:xfrm>
            <a:off x="502920" y="1645920"/>
            <a:ext cx="3246120" cy="1051560"/>
          </a:xfrm>
          <a:prstGeom prst="roundRect">
            <a:avLst>
              <a:gd name="adj" fmla="val 10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45920"/>
            <a:ext cx="82296" cy="105156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755648"/>
            <a:ext cx="2880360" cy="365760"/>
          </a:xfrm>
          <a:prstGeom prst="rect">
            <a:avLst/>
          </a:prstGeom>
          <a:noFill/>
        </p:spPr>
        <p:txBody>
          <a:bodyPr wrap="square" anchor="t" lIns="0" rIns="0" tIns="0" bIns="0">
            <a:spAutoFit/>
          </a:bodyPr>
          <a:lstStyle/>
          <a:p>
            <a:pPr algn="l">
              <a:lnSpc>
                <a:spcPct val="100000"/>
              </a:lnSpc>
              <a:spcAft>
                <a:spcPts val="600"/>
              </a:spcAft>
            </a:pPr>
            <a:r>
              <a:rPr sz="1450" b="1" i="0">
                <a:solidFill>
                  <a:srgbClr val="0E1F3D"/>
                </a:solidFill>
                <a:latin typeface="Arial"/>
              </a:rPr>
              <a:t>1 · Gemini đọc hồ sơ hôm nay</a:t>
            </a:r>
          </a:p>
        </p:txBody>
      </p:sp>
      <p:sp>
        <p:nvSpPr>
          <p:cNvPr id="12" name="TextBox 11"/>
          <p:cNvSpPr txBox="1"/>
          <p:nvPr/>
        </p:nvSpPr>
        <p:spPr>
          <a:xfrm>
            <a:off x="758952" y="2121408"/>
            <a:ext cx="2880360" cy="548640"/>
          </a:xfrm>
          <a:prstGeom prst="rect">
            <a:avLst/>
          </a:prstGeom>
          <a:noFill/>
        </p:spPr>
        <p:txBody>
          <a:bodyPr wrap="square" anchor="t" lIns="0" rIns="0" tIns="0" bIns="0">
            <a:spAutoFit/>
          </a:bodyPr>
          <a:lstStyle/>
          <a:p>
            <a:pPr algn="l">
              <a:lnSpc>
                <a:spcPct val="105000"/>
              </a:lnSpc>
              <a:spcAft>
                <a:spcPts val="600"/>
              </a:spcAft>
            </a:pPr>
            <a:r>
              <a:rPr sz="1150" b="0" i="0">
                <a:solidFill>
                  <a:srgbClr val="51617F"/>
                </a:solidFill>
                <a:latin typeface="Arial"/>
              </a:rPr>
              <a:t>trích xuất mọi loại chứng từ — chi phí &lt; 500đ/bộ</a:t>
            </a:r>
          </a:p>
        </p:txBody>
      </p:sp>
      <p:sp>
        <p:nvSpPr>
          <p:cNvPr id="13" name="Rounded Rectangle 12"/>
          <p:cNvSpPr/>
          <p:nvPr/>
        </p:nvSpPr>
        <p:spPr>
          <a:xfrm>
            <a:off x="4343400" y="1645920"/>
            <a:ext cx="3246120" cy="1051560"/>
          </a:xfrm>
          <a:prstGeom prst="roundRect">
            <a:avLst>
              <a:gd name="adj" fmla="val 10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645920"/>
            <a:ext cx="82296" cy="105156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1755648"/>
            <a:ext cx="2880360" cy="365760"/>
          </a:xfrm>
          <a:prstGeom prst="rect">
            <a:avLst/>
          </a:prstGeom>
          <a:noFill/>
        </p:spPr>
        <p:txBody>
          <a:bodyPr wrap="square" anchor="t" lIns="0" rIns="0" tIns="0" bIns="0">
            <a:spAutoFit/>
          </a:bodyPr>
          <a:lstStyle/>
          <a:p>
            <a:pPr algn="l">
              <a:lnSpc>
                <a:spcPct val="100000"/>
              </a:lnSpc>
              <a:spcAft>
                <a:spcPts val="600"/>
              </a:spcAft>
            </a:pPr>
            <a:r>
              <a:rPr sz="1450" b="1" i="0">
                <a:solidFill>
                  <a:srgbClr val="0E1F3D"/>
                </a:solidFill>
                <a:latin typeface="Arial"/>
              </a:rPr>
              <a:t>2 · Người phê duyệt</a:t>
            </a:r>
          </a:p>
        </p:txBody>
      </p:sp>
      <p:sp>
        <p:nvSpPr>
          <p:cNvPr id="16" name="TextBox 15"/>
          <p:cNvSpPr txBox="1"/>
          <p:nvPr/>
        </p:nvSpPr>
        <p:spPr>
          <a:xfrm>
            <a:off x="4599432" y="2121408"/>
            <a:ext cx="2880360" cy="548640"/>
          </a:xfrm>
          <a:prstGeom prst="rect">
            <a:avLst/>
          </a:prstGeom>
          <a:noFill/>
        </p:spPr>
        <p:txBody>
          <a:bodyPr wrap="square" anchor="t" lIns="0" rIns="0" tIns="0" bIns="0">
            <a:spAutoFit/>
          </a:bodyPr>
          <a:lstStyle/>
          <a:p>
            <a:pPr algn="l">
              <a:lnSpc>
                <a:spcPct val="105000"/>
              </a:lnSpc>
              <a:spcAft>
                <a:spcPts val="600"/>
              </a:spcAft>
            </a:pPr>
            <a:r>
              <a:rPr sz="1150" b="0" i="0">
                <a:solidFill>
                  <a:srgbClr val="51617F"/>
                </a:solidFill>
                <a:latin typeface="Arial"/>
              </a:rPr>
              <a:t>mỗi trường được duyệt/sửa = 1 nhãn chuẩn kèm bbox</a:t>
            </a:r>
          </a:p>
        </p:txBody>
      </p:sp>
      <p:sp>
        <p:nvSpPr>
          <p:cNvPr id="17" name="Rounded Rectangle 16"/>
          <p:cNvSpPr/>
          <p:nvPr/>
        </p:nvSpPr>
        <p:spPr>
          <a:xfrm>
            <a:off x="4343400" y="3611880"/>
            <a:ext cx="3246120" cy="1051560"/>
          </a:xfrm>
          <a:prstGeom prst="roundRect">
            <a:avLst>
              <a:gd name="adj" fmla="val 10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3611880"/>
            <a:ext cx="82296" cy="105156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2" y="3721608"/>
            <a:ext cx="2880360" cy="365760"/>
          </a:xfrm>
          <a:prstGeom prst="rect">
            <a:avLst/>
          </a:prstGeom>
          <a:noFill/>
        </p:spPr>
        <p:txBody>
          <a:bodyPr wrap="square" anchor="t" lIns="0" rIns="0" tIns="0" bIns="0">
            <a:spAutoFit/>
          </a:bodyPr>
          <a:lstStyle/>
          <a:p>
            <a:pPr algn="l">
              <a:lnSpc>
                <a:spcPct val="100000"/>
              </a:lnSpc>
              <a:spcAft>
                <a:spcPts val="600"/>
              </a:spcAft>
            </a:pPr>
            <a:r>
              <a:rPr sz="1450" b="1" i="0">
                <a:solidFill>
                  <a:srgbClr val="0E1F3D"/>
                </a:solidFill>
                <a:latin typeface="Arial"/>
              </a:rPr>
              <a:t>3 · Dataset tự sinh từ vận hành</a:t>
            </a:r>
          </a:p>
        </p:txBody>
      </p:sp>
      <p:sp>
        <p:nvSpPr>
          <p:cNvPr id="20" name="TextBox 19"/>
          <p:cNvSpPr txBox="1"/>
          <p:nvPr/>
        </p:nvSpPr>
        <p:spPr>
          <a:xfrm>
            <a:off x="4599432" y="4087368"/>
            <a:ext cx="2880360" cy="548640"/>
          </a:xfrm>
          <a:prstGeom prst="rect">
            <a:avLst/>
          </a:prstGeom>
          <a:noFill/>
        </p:spPr>
        <p:txBody>
          <a:bodyPr wrap="square" anchor="t" lIns="0" rIns="0" tIns="0" bIns="0">
            <a:spAutoFit/>
          </a:bodyPr>
          <a:lstStyle/>
          <a:p>
            <a:pPr algn="l">
              <a:lnSpc>
                <a:spcPct val="105000"/>
              </a:lnSpc>
              <a:spcAft>
                <a:spcPts val="600"/>
              </a:spcAft>
            </a:pPr>
            <a:r>
              <a:rPr sz="1150" b="0" i="0">
                <a:solidFill>
                  <a:srgbClr val="51617F"/>
                </a:solidFill>
                <a:latin typeface="Arial"/>
              </a:rPr>
              <a:t>~nửa triệu nhãn có người kiểm chứng mỗi tháng</a:t>
            </a:r>
          </a:p>
        </p:txBody>
      </p:sp>
      <p:sp>
        <p:nvSpPr>
          <p:cNvPr id="21" name="Rounded Rectangle 20"/>
          <p:cNvSpPr/>
          <p:nvPr/>
        </p:nvSpPr>
        <p:spPr>
          <a:xfrm>
            <a:off x="502920" y="3611880"/>
            <a:ext cx="3246120" cy="1051560"/>
          </a:xfrm>
          <a:prstGeom prst="roundRect">
            <a:avLst>
              <a:gd name="adj" fmla="val 10000"/>
            </a:avLst>
          </a:prstGeom>
          <a:solidFill>
            <a:srgbClr val="FFF7E6"/>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611880"/>
            <a:ext cx="82296" cy="1051560"/>
          </a:xfrm>
          <a:prstGeom prst="rect">
            <a:avLst/>
          </a:prstGeom>
          <a:solidFill>
            <a:srgbClr val="C256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3721608"/>
            <a:ext cx="2880360" cy="365760"/>
          </a:xfrm>
          <a:prstGeom prst="rect">
            <a:avLst/>
          </a:prstGeom>
          <a:noFill/>
        </p:spPr>
        <p:txBody>
          <a:bodyPr wrap="square" anchor="t" lIns="0" rIns="0" tIns="0" bIns="0">
            <a:spAutoFit/>
          </a:bodyPr>
          <a:lstStyle/>
          <a:p>
            <a:pPr algn="l">
              <a:lnSpc>
                <a:spcPct val="100000"/>
              </a:lnSpc>
              <a:spcAft>
                <a:spcPts val="600"/>
              </a:spcAft>
            </a:pPr>
            <a:r>
              <a:rPr sz="1450" b="1" i="0">
                <a:solidFill>
                  <a:srgbClr val="0E1F3D"/>
                </a:solidFill>
                <a:latin typeface="Arial"/>
              </a:rPr>
              <a:t>4 · Distill sang PyTorch on-prem</a:t>
            </a:r>
          </a:p>
        </p:txBody>
      </p:sp>
      <p:sp>
        <p:nvSpPr>
          <p:cNvPr id="24" name="TextBox 23"/>
          <p:cNvSpPr txBox="1"/>
          <p:nvPr/>
        </p:nvSpPr>
        <p:spPr>
          <a:xfrm>
            <a:off x="758952" y="4087368"/>
            <a:ext cx="2880360" cy="548640"/>
          </a:xfrm>
          <a:prstGeom prst="rect">
            <a:avLst/>
          </a:prstGeom>
          <a:noFill/>
        </p:spPr>
        <p:txBody>
          <a:bodyPr wrap="square" anchor="t" lIns="0" rIns="0" tIns="0" bIns="0">
            <a:spAutoFit/>
          </a:bodyPr>
          <a:lstStyle/>
          <a:p>
            <a:pPr algn="l">
              <a:lnSpc>
                <a:spcPct val="105000"/>
              </a:lnSpc>
              <a:spcAft>
                <a:spcPts val="600"/>
              </a:spcAft>
            </a:pPr>
            <a:r>
              <a:rPr sz="1150" b="0" i="0">
                <a:solidFill>
                  <a:srgbClr val="51617F"/>
                </a:solidFill>
                <a:latin typeface="Arial"/>
              </a:rPr>
              <a:t>extractor riêng cho loại chứng từ layout ổn định</a:t>
            </a:r>
          </a:p>
        </p:txBody>
      </p:sp>
      <p:sp>
        <p:nvSpPr>
          <p:cNvPr id="25" name="Right Arrow 24"/>
          <p:cNvSpPr/>
          <p:nvPr/>
        </p:nvSpPr>
        <p:spPr>
          <a:xfrm>
            <a:off x="3913632" y="2029968"/>
            <a:ext cx="365760" cy="274320"/>
          </a:xfrm>
          <a:prstGeom prst="right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5852160" y="2788920"/>
            <a:ext cx="274320" cy="749808"/>
          </a:xfrm>
          <a:prstGeom prst="down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eft Arrow 26"/>
          <p:cNvSpPr/>
          <p:nvPr/>
        </p:nvSpPr>
        <p:spPr>
          <a:xfrm>
            <a:off x="3913632" y="3995928"/>
            <a:ext cx="365760" cy="274320"/>
          </a:xfrm>
          <a:prstGeom prst="left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p Arrow 27"/>
          <p:cNvSpPr/>
          <p:nvPr/>
        </p:nvSpPr>
        <p:spPr>
          <a:xfrm>
            <a:off x="1965960" y="2788920"/>
            <a:ext cx="274320" cy="749808"/>
          </a:xfrm>
          <a:prstGeom prst="up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14600" y="2999232"/>
            <a:ext cx="3017520" cy="365760"/>
          </a:xfrm>
          <a:prstGeom prst="rect">
            <a:avLst/>
          </a:prstGeom>
          <a:noFill/>
        </p:spPr>
        <p:txBody>
          <a:bodyPr wrap="square" anchor="t" lIns="0" rIns="0" tIns="0" bIns="0">
            <a:spAutoFit/>
          </a:bodyPr>
          <a:lstStyle/>
          <a:p>
            <a:pPr algn="ctr">
              <a:lnSpc>
                <a:spcPct val="100000"/>
              </a:lnSpc>
              <a:spcAft>
                <a:spcPts val="600"/>
              </a:spcAft>
            </a:pPr>
            <a:r>
              <a:rPr sz="1100" b="1" i="0">
                <a:solidFill>
                  <a:srgbClr val="C25605"/>
                </a:solidFill>
                <a:latin typeface="Arial"/>
              </a:rPr>
              <a:t>FLYWHEEL DỮ LIỆU</a:t>
            </a:r>
          </a:p>
        </p:txBody>
      </p:sp>
      <p:sp>
        <p:nvSpPr>
          <p:cNvPr id="30" name="Rounded Rectangle 29"/>
          <p:cNvSpPr/>
          <p:nvPr/>
        </p:nvSpPr>
        <p:spPr>
          <a:xfrm>
            <a:off x="8001000" y="1645920"/>
            <a:ext cx="3703320" cy="969264"/>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1737360"/>
            <a:ext cx="3291840" cy="320040"/>
          </a:xfrm>
          <a:prstGeom prst="rect">
            <a:avLst/>
          </a:prstGeom>
          <a:noFill/>
        </p:spPr>
        <p:txBody>
          <a:bodyPr wrap="square" anchor="t" lIns="0" rIns="0" tIns="0" bIns="0">
            <a:spAutoFit/>
          </a:bodyPr>
          <a:lstStyle/>
          <a:p>
            <a:pPr algn="l">
              <a:lnSpc>
                <a:spcPct val="100000"/>
              </a:lnSpc>
              <a:spcAft>
                <a:spcPts val="600"/>
              </a:spcAft>
            </a:pPr>
            <a:r>
              <a:rPr sz="1350" b="1" i="0">
                <a:solidFill>
                  <a:srgbClr val="F58220"/>
                </a:solidFill>
                <a:latin typeface="Arial"/>
              </a:rPr>
              <a:t>On-prem</a:t>
            </a:r>
          </a:p>
        </p:txBody>
      </p:sp>
      <p:sp>
        <p:nvSpPr>
          <p:cNvPr id="32" name="TextBox 31"/>
          <p:cNvSpPr txBox="1"/>
          <p:nvPr/>
        </p:nvSpPr>
        <p:spPr>
          <a:xfrm>
            <a:off x="8229600" y="2066544"/>
            <a:ext cx="3291840"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B9C6DE"/>
                </a:solidFill>
                <a:latin typeface="Arial"/>
              </a:rPr>
              <a:t>dữ liệu không rời hạ tầng ngân hàng — điều API cloud không làm được</a:t>
            </a:r>
          </a:p>
        </p:txBody>
      </p:sp>
      <p:sp>
        <p:nvSpPr>
          <p:cNvPr id="33" name="Rounded Rectangle 32"/>
          <p:cNvSpPr/>
          <p:nvPr/>
        </p:nvSpPr>
        <p:spPr>
          <a:xfrm>
            <a:off x="8001000" y="2761488"/>
            <a:ext cx="3703320" cy="969264"/>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2852928"/>
            <a:ext cx="3291840" cy="320040"/>
          </a:xfrm>
          <a:prstGeom prst="rect">
            <a:avLst/>
          </a:prstGeom>
          <a:noFill/>
        </p:spPr>
        <p:txBody>
          <a:bodyPr wrap="square" anchor="t" lIns="0" rIns="0" tIns="0" bIns="0">
            <a:spAutoFit/>
          </a:bodyPr>
          <a:lstStyle/>
          <a:p>
            <a:pPr algn="l">
              <a:lnSpc>
                <a:spcPct val="100000"/>
              </a:lnSpc>
              <a:spcAft>
                <a:spcPts val="600"/>
              </a:spcAft>
            </a:pPr>
            <a:r>
              <a:rPr sz="1350" b="1" i="0">
                <a:solidFill>
                  <a:srgbClr val="F58220"/>
                </a:solidFill>
                <a:latin typeface="Arial"/>
              </a:rPr>
              <a:t>Chi phí biên → 0</a:t>
            </a:r>
          </a:p>
        </p:txBody>
      </p:sp>
      <p:sp>
        <p:nvSpPr>
          <p:cNvPr id="35" name="TextBox 34"/>
          <p:cNvSpPr txBox="1"/>
          <p:nvPr/>
        </p:nvSpPr>
        <p:spPr>
          <a:xfrm>
            <a:off x="8229600" y="3182112"/>
            <a:ext cx="3291840"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B9C6DE"/>
                </a:solidFill>
                <a:latin typeface="Arial"/>
              </a:rPr>
              <a:t>loại chứng từ ổn định chạy model riêng, không tốn phí API theo lượt</a:t>
            </a:r>
          </a:p>
        </p:txBody>
      </p:sp>
      <p:sp>
        <p:nvSpPr>
          <p:cNvPr id="36" name="Rounded Rectangle 35"/>
          <p:cNvSpPr/>
          <p:nvPr/>
        </p:nvSpPr>
        <p:spPr>
          <a:xfrm>
            <a:off x="8001000" y="3877056"/>
            <a:ext cx="3703320" cy="969264"/>
          </a:xfrm>
          <a:prstGeom prst="roundRect">
            <a:avLst>
              <a:gd name="adj" fmla="val 10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3968496"/>
            <a:ext cx="3291840" cy="320040"/>
          </a:xfrm>
          <a:prstGeom prst="rect">
            <a:avLst/>
          </a:prstGeom>
          <a:noFill/>
        </p:spPr>
        <p:txBody>
          <a:bodyPr wrap="square" anchor="t" lIns="0" rIns="0" tIns="0" bIns="0">
            <a:spAutoFit/>
          </a:bodyPr>
          <a:lstStyle/>
          <a:p>
            <a:pPr algn="l">
              <a:lnSpc>
                <a:spcPct val="100000"/>
              </a:lnSpc>
              <a:spcAft>
                <a:spcPts val="600"/>
              </a:spcAft>
            </a:pPr>
            <a:r>
              <a:rPr sz="1350" b="1" i="0">
                <a:solidFill>
                  <a:srgbClr val="F58220"/>
                </a:solidFill>
                <a:latin typeface="Arial"/>
              </a:rPr>
              <a:t>Gemini = lưới an toàn</a:t>
            </a:r>
          </a:p>
        </p:txBody>
      </p:sp>
      <p:sp>
        <p:nvSpPr>
          <p:cNvPr id="38" name="TextBox 37"/>
          <p:cNvSpPr txBox="1"/>
          <p:nvPr/>
        </p:nvSpPr>
        <p:spPr>
          <a:xfrm>
            <a:off x="8229600" y="4297680"/>
            <a:ext cx="3291840" cy="502920"/>
          </a:xfrm>
          <a:prstGeom prst="rect">
            <a:avLst/>
          </a:prstGeom>
          <a:noFill/>
        </p:spPr>
        <p:txBody>
          <a:bodyPr wrap="square" anchor="t" lIns="0" rIns="0" tIns="0" bIns="0">
            <a:spAutoFit/>
          </a:bodyPr>
          <a:lstStyle/>
          <a:p>
            <a:pPr algn="l">
              <a:lnSpc>
                <a:spcPct val="105000"/>
              </a:lnSpc>
              <a:spcAft>
                <a:spcPts val="600"/>
              </a:spcAft>
            </a:pPr>
            <a:r>
              <a:rPr sz="1100" b="0" i="0">
                <a:solidFill>
                  <a:srgbClr val="B9C6DE"/>
                </a:solidFill>
                <a:latin typeface="Arial"/>
              </a:rPr>
              <a:t>chỉ còn đọc ca khó: viết tay, mờ, loại giấy tờ mới</a:t>
            </a:r>
          </a:p>
        </p:txBody>
      </p:sp>
      <p:sp>
        <p:nvSpPr>
          <p:cNvPr id="39" name="Rounded Rectangle 38"/>
          <p:cNvSpPr/>
          <p:nvPr/>
        </p:nvSpPr>
        <p:spPr>
          <a:xfrm>
            <a:off x="502920" y="5138928"/>
            <a:ext cx="11201400" cy="960120"/>
          </a:xfrm>
          <a:prstGeom prst="roundRect">
            <a:avLst>
              <a:gd name="adj" fmla="val 12000"/>
            </a:avLst>
          </a:prstGeom>
          <a:solidFill>
            <a:srgbClr val="FFF7E6"/>
          </a:solidFill>
          <a:ln w="1524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376672"/>
            <a:ext cx="10515600" cy="640080"/>
          </a:xfrm>
          <a:prstGeom prst="rect">
            <a:avLst/>
          </a:prstGeom>
          <a:noFill/>
        </p:spPr>
        <p:txBody>
          <a:bodyPr wrap="square" anchor="t" lIns="0" rIns="0" tIns="0" bIns="0">
            <a:spAutoFit/>
          </a:bodyPr>
          <a:lstStyle/>
          <a:p>
            <a:pPr algn="ctr">
              <a:lnSpc>
                <a:spcPct val="100000"/>
              </a:lnSpc>
              <a:spcAft>
                <a:spcPts val="600"/>
              </a:spcAft>
            </a:pPr>
            <a:r>
              <a:rPr sz="1800" b="1" i="0">
                <a:solidFill>
                  <a:srgbClr val="C25605"/>
                </a:solidFill>
                <a:latin typeface="Arial"/>
              </a:rPr>
              <a:t>“Tụi em không chọn giữa LLM và PyTorch — tụi em dùng LLM để bootstrap PyTorch.”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BUSINESS MODEL</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Mô hình kinh doanh</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10</a:t>
            </a:r>
          </a:p>
        </p:txBody>
      </p:sp>
      <p:sp>
        <p:nvSpPr>
          <p:cNvPr id="9" name="Rounded Rectangle 8"/>
          <p:cNvSpPr/>
          <p:nvPr/>
        </p:nvSpPr>
        <p:spPr>
          <a:xfrm>
            <a:off x="502920" y="1645920"/>
            <a:ext cx="3657600" cy="2651760"/>
          </a:xfrm>
          <a:prstGeom prst="roundRect">
            <a:avLst>
              <a:gd name="adj" fmla="val 6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45920"/>
            <a:ext cx="3657600" cy="128016"/>
          </a:xfrm>
          <a:prstGeom prst="rect">
            <a:avLst/>
          </a:prstGeom>
          <a:solidFill>
            <a:srgbClr val="C256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65960"/>
            <a:ext cx="3108960" cy="54864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Phí theo bộ hồ sơ</a:t>
            </a:r>
          </a:p>
        </p:txBody>
      </p:sp>
      <p:sp>
        <p:nvSpPr>
          <p:cNvPr id="12" name="TextBox 11"/>
          <p:cNvSpPr txBox="1"/>
          <p:nvPr/>
        </p:nvSpPr>
        <p:spPr>
          <a:xfrm>
            <a:off x="777240" y="2514600"/>
            <a:ext cx="3108960" cy="1645920"/>
          </a:xfrm>
          <a:prstGeom prst="rect">
            <a:avLst/>
          </a:prstGeom>
          <a:noFill/>
        </p:spPr>
        <p:txBody>
          <a:bodyPr wrap="square" anchor="t" lIns="0" rIns="0" tIns="0" bIns="0">
            <a:spAutoFit/>
          </a:bodyPr>
          <a:lstStyle/>
          <a:p>
            <a:pPr algn="l">
              <a:lnSpc>
                <a:spcPct val="112000"/>
              </a:lnSpc>
              <a:spcAft>
                <a:spcPts val="600"/>
              </a:spcAft>
            </a:pPr>
            <a:r>
              <a:rPr sz="1350" b="0" i="0">
                <a:solidFill>
                  <a:srgbClr val="51617F"/>
                </a:solidFill>
                <a:latin typeface="Arial"/>
              </a:rPr>
              <a:t>Thu theo lượt xử lý (SaaS). Chi phí AI &lt; 500đ/bộ — giá bán vài nghìn đồng vẫn rẻ hơn nhiều lần chi phí giờ công nhập tay.</a:t>
            </a:r>
          </a:p>
        </p:txBody>
      </p:sp>
      <p:sp>
        <p:nvSpPr>
          <p:cNvPr id="13" name="Rounded Rectangle 12"/>
          <p:cNvSpPr/>
          <p:nvPr/>
        </p:nvSpPr>
        <p:spPr>
          <a:xfrm>
            <a:off x="4270248" y="1645920"/>
            <a:ext cx="3657600" cy="2651760"/>
          </a:xfrm>
          <a:prstGeom prst="roundRect">
            <a:avLst>
              <a:gd name="adj" fmla="val 6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645920"/>
            <a:ext cx="3657600" cy="128016"/>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965960"/>
            <a:ext cx="3108960" cy="54864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Gói tích hợp core</a:t>
            </a:r>
          </a:p>
        </p:txBody>
      </p:sp>
      <p:sp>
        <p:nvSpPr>
          <p:cNvPr id="16" name="TextBox 15"/>
          <p:cNvSpPr txBox="1"/>
          <p:nvPr/>
        </p:nvSpPr>
        <p:spPr>
          <a:xfrm>
            <a:off x="4544568" y="2514600"/>
            <a:ext cx="3108960" cy="1645920"/>
          </a:xfrm>
          <a:prstGeom prst="rect">
            <a:avLst/>
          </a:prstGeom>
          <a:noFill/>
        </p:spPr>
        <p:txBody>
          <a:bodyPr wrap="square" anchor="t" lIns="0" rIns="0" tIns="0" bIns="0">
            <a:spAutoFit/>
          </a:bodyPr>
          <a:lstStyle/>
          <a:p>
            <a:pPr algn="l">
              <a:lnSpc>
                <a:spcPct val="112000"/>
              </a:lnSpc>
              <a:spcAft>
                <a:spcPts val="600"/>
              </a:spcAft>
            </a:pPr>
            <a:r>
              <a:rPr sz="1350" b="0" i="0">
                <a:solidFill>
                  <a:srgbClr val="51617F"/>
                </a:solidFill>
                <a:latin typeface="Arial"/>
              </a:rPr>
              <a:t>Phí triển khai một lần: adapter vào core (Intellect/ESB), mapping trường theo nghiệp vụ từng ngân hàng, đào tạo.</a:t>
            </a:r>
          </a:p>
        </p:txBody>
      </p:sp>
      <p:sp>
        <p:nvSpPr>
          <p:cNvPr id="17" name="Rounded Rectangle 16"/>
          <p:cNvSpPr/>
          <p:nvPr/>
        </p:nvSpPr>
        <p:spPr>
          <a:xfrm>
            <a:off x="8037576" y="1645920"/>
            <a:ext cx="3657600" cy="2651760"/>
          </a:xfrm>
          <a:prstGeom prst="roundRect">
            <a:avLst>
              <a:gd name="adj" fmla="val 6000"/>
            </a:avLst>
          </a:prstGeom>
          <a:solidFill>
            <a:srgbClr val="FFFFFF"/>
          </a:solidFill>
          <a:ln w="12700">
            <a:solidFill>
              <a:srgbClr val="E3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645920"/>
            <a:ext cx="3657600" cy="128016"/>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965960"/>
            <a:ext cx="3108960" cy="548640"/>
          </a:xfrm>
          <a:prstGeom prst="rect">
            <a:avLst/>
          </a:prstGeom>
          <a:noFill/>
        </p:spPr>
        <p:txBody>
          <a:bodyPr wrap="square" anchor="t" lIns="0" rIns="0" tIns="0" bIns="0">
            <a:spAutoFit/>
          </a:bodyPr>
          <a:lstStyle/>
          <a:p>
            <a:pPr algn="l">
              <a:lnSpc>
                <a:spcPct val="100000"/>
              </a:lnSpc>
              <a:spcAft>
                <a:spcPts val="600"/>
              </a:spcAft>
            </a:pPr>
            <a:r>
              <a:rPr sz="1700" b="1" i="0">
                <a:solidFill>
                  <a:srgbClr val="0E1F3D"/>
                </a:solidFill>
                <a:latin typeface="Arial"/>
              </a:rPr>
              <a:t>Thuê bao vận hành</a:t>
            </a:r>
          </a:p>
        </p:txBody>
      </p:sp>
      <p:sp>
        <p:nvSpPr>
          <p:cNvPr id="20" name="TextBox 19"/>
          <p:cNvSpPr txBox="1"/>
          <p:nvPr/>
        </p:nvSpPr>
        <p:spPr>
          <a:xfrm>
            <a:off x="8311896" y="2514600"/>
            <a:ext cx="3108960" cy="1645920"/>
          </a:xfrm>
          <a:prstGeom prst="rect">
            <a:avLst/>
          </a:prstGeom>
          <a:noFill/>
        </p:spPr>
        <p:txBody>
          <a:bodyPr wrap="square" anchor="t" lIns="0" rIns="0" tIns="0" bIns="0">
            <a:spAutoFit/>
          </a:bodyPr>
          <a:lstStyle/>
          <a:p>
            <a:pPr algn="l">
              <a:lnSpc>
                <a:spcPct val="112000"/>
              </a:lnSpc>
              <a:spcAft>
                <a:spcPts val="600"/>
              </a:spcAft>
            </a:pPr>
            <a:r>
              <a:rPr sz="1350" b="0" i="0">
                <a:solidFill>
                  <a:srgbClr val="51617F"/>
                </a:solidFill>
                <a:latin typeface="Arial"/>
              </a:rPr>
              <a:t>Theo chi nhánh/tháng: dashboard KPI, audit log, cấu hình trường tùy chỉnh, SLA hỗ trợ.</a:t>
            </a:r>
          </a:p>
        </p:txBody>
      </p:sp>
      <p:sp>
        <p:nvSpPr>
          <p:cNvPr id="21" name="TextBox 20"/>
          <p:cNvSpPr txBox="1"/>
          <p:nvPr/>
        </p:nvSpPr>
        <p:spPr>
          <a:xfrm>
            <a:off x="502920" y="4617720"/>
            <a:ext cx="11155680" cy="1463040"/>
          </a:xfrm>
          <a:prstGeom prst="rect">
            <a:avLst/>
          </a:prstGeom>
          <a:noFill/>
        </p:spPr>
        <p:txBody>
          <a:bodyPr wrap="square" anchor="t" lIns="0" rIns="0" tIns="0" bIns="0">
            <a:spAutoFit/>
          </a:bodyPr>
          <a:lstStyle/>
          <a:p>
            <a:pPr algn="l">
              <a:lnSpc>
                <a:spcPct val="125000"/>
              </a:lnSpc>
              <a:spcAft>
                <a:spcPts val="600"/>
              </a:spcAft>
            </a:pPr>
            <a:r>
              <a:rPr sz="1550" b="1" i="0">
                <a:solidFill>
                  <a:srgbClr val="0E1F3D"/>
                </a:solidFill>
                <a:latin typeface="Arial"/>
              </a:rPr>
              <a:t>Đơn vị kinh tế: </a:t>
            </a:r>
            <a:r>
              <a:rPr sz="1550" b="0" i="0">
                <a:solidFill>
                  <a:srgbClr val="51617F"/>
                </a:solidFill>
                <a:latin typeface="Arial"/>
              </a:rPr>
              <a:t>10.000 bộ/tháng ≈ 5 triệu đồng chi phí AI — đổi lấy hàng nghìn giờ công nghiệp vụ. Biên gộp phần mềm &gt; 90%.</a:t>
            </a:r>
          </a:p>
          <a:p>
            <a:pPr algn="l">
              <a:lnSpc>
                <a:spcPct val="125000"/>
              </a:lnSpc>
              <a:spcAft>
                <a:spcPts val="600"/>
              </a:spcAft>
            </a:pPr>
            <a:r>
              <a:rPr sz="1550" b="1" i="0">
                <a:solidFill>
                  <a:srgbClr val="0E1F3D"/>
                </a:solidFill>
                <a:latin typeface="Arial"/>
              </a:rPr>
              <a:t>Thị trường: </a:t>
            </a:r>
            <a:r>
              <a:rPr sz="1550" b="0" i="0">
                <a:solidFill>
                  <a:srgbClr val="51617F"/>
                </a:solidFill>
                <a:latin typeface="Arial"/>
              </a:rPr>
              <a:t>bắt đầu từ pilot SHB → nhân rộng khối ngân hàng thương mại Việt Nam; cùng một lõi dùng được cho bảo hiểm, chứng khoán, công ty tài chính.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75488"/>
            <a:ext cx="201168"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960120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C25605"/>
                </a:solidFill>
                <a:latin typeface="Arial"/>
              </a:rPr>
              <a:t>PILOT PATHWAY</a:t>
            </a:r>
          </a:p>
        </p:txBody>
      </p:sp>
      <p:sp>
        <p:nvSpPr>
          <p:cNvPr id="5" name="TextBox 4"/>
          <p:cNvSpPr txBox="1"/>
          <p:nvPr/>
        </p:nvSpPr>
        <p:spPr>
          <a:xfrm>
            <a:off x="868680" y="530352"/>
            <a:ext cx="10058400" cy="640080"/>
          </a:xfrm>
          <a:prstGeom prst="rect">
            <a:avLst/>
          </a:prstGeom>
          <a:noFill/>
        </p:spPr>
        <p:txBody>
          <a:bodyPr wrap="square" anchor="t" lIns="0" rIns="0" tIns="0" bIns="0">
            <a:spAutoFit/>
          </a:bodyPr>
          <a:lstStyle/>
          <a:p>
            <a:pPr algn="l">
              <a:lnSpc>
                <a:spcPct val="100000"/>
              </a:lnSpc>
              <a:spcAft>
                <a:spcPts val="600"/>
              </a:spcAft>
            </a:pPr>
            <a:r>
              <a:rPr sz="3000" b="1" i="0">
                <a:solidFill>
                  <a:srgbClr val="0E1F3D"/>
                </a:solidFill>
                <a:latin typeface="Arial"/>
              </a:rPr>
              <a:t>Lộ trình pilot — bật công tắc là chạy</a:t>
            </a:r>
          </a:p>
        </p:txBody>
      </p:sp>
      <p:sp>
        <p:nvSpPr>
          <p:cNvPr id="6" name="Rectangle 5"/>
          <p:cNvSpPr/>
          <p:nvPr/>
        </p:nvSpPr>
        <p:spPr>
          <a:xfrm>
            <a:off x="502920" y="1207008"/>
            <a:ext cx="11183112" cy="17780"/>
          </a:xfrm>
          <a:prstGeom prst="rect">
            <a:avLst/>
          </a:prstGeom>
          <a:solidFill>
            <a:srgbClr val="E3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73152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51617F"/>
                </a:solidFill>
                <a:latin typeface="Arial"/>
              </a:rPr>
              <a:t>DocFlow · Team OCanbubu · Đề SHB #195 — Intelligent Document Processing</a:t>
            </a:r>
          </a:p>
        </p:txBody>
      </p:sp>
      <p:sp>
        <p:nvSpPr>
          <p:cNvPr id="8" name="TextBox 7"/>
          <p:cNvSpPr txBox="1"/>
          <p:nvPr/>
        </p:nvSpPr>
        <p:spPr>
          <a:xfrm>
            <a:off x="11155680" y="6455664"/>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51617F"/>
                </a:solidFill>
                <a:latin typeface="Arial"/>
              </a:rPr>
              <a:t>11</a:t>
            </a:r>
          </a:p>
        </p:txBody>
      </p:sp>
      <p:sp>
        <p:nvSpPr>
          <p:cNvPr id="9" name="Rounded Rectangle 8"/>
          <p:cNvSpPr/>
          <p:nvPr/>
        </p:nvSpPr>
        <p:spPr>
          <a:xfrm>
            <a:off x="502920" y="1737360"/>
            <a:ext cx="1554480" cy="914400"/>
          </a:xfrm>
          <a:prstGeom prst="roundRect">
            <a:avLst>
              <a:gd name="adj" fmla="val 14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2 tuần</a:t>
            </a:r>
          </a:p>
        </p:txBody>
      </p:sp>
      <p:sp>
        <p:nvSpPr>
          <p:cNvPr id="10" name="TextBox 9"/>
          <p:cNvSpPr txBox="1"/>
          <p:nvPr/>
        </p:nvSpPr>
        <p:spPr>
          <a:xfrm>
            <a:off x="2331720" y="1847088"/>
            <a:ext cx="9326880" cy="822960"/>
          </a:xfrm>
          <a:prstGeom prst="rect">
            <a:avLst/>
          </a:prstGeom>
          <a:noFill/>
        </p:spPr>
        <p:txBody>
          <a:bodyPr wrap="square" anchor="t" lIns="0" rIns="0" tIns="0" bIns="0">
            <a:spAutoFit/>
          </a:bodyPr>
          <a:lstStyle/>
          <a:p>
            <a:pPr algn="l">
              <a:lnSpc>
                <a:spcPct val="110000"/>
              </a:lnSpc>
              <a:spcAft>
                <a:spcPts val="600"/>
              </a:spcAft>
            </a:pPr>
            <a:r>
              <a:rPr sz="1550" b="0" i="0">
                <a:solidFill>
                  <a:srgbClr val="0E1F3D"/>
                </a:solidFill>
                <a:latin typeface="Arial"/>
              </a:rPr>
              <a:t>Sandbox trên hồ sơ ẩn danh SHB — đo accuracy trên dữ liệu thật của ngân hàng</a:t>
            </a:r>
          </a:p>
        </p:txBody>
      </p:sp>
      <p:sp>
        <p:nvSpPr>
          <p:cNvPr id="11" name="Rounded Rectangle 10"/>
          <p:cNvSpPr/>
          <p:nvPr/>
        </p:nvSpPr>
        <p:spPr>
          <a:xfrm>
            <a:off x="502920" y="2880360"/>
            <a:ext cx="1554480" cy="914400"/>
          </a:xfrm>
          <a:prstGeom prst="roundRect">
            <a:avLst>
              <a:gd name="adj" fmla="val 14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3 tháng</a:t>
            </a:r>
          </a:p>
        </p:txBody>
      </p:sp>
      <p:sp>
        <p:nvSpPr>
          <p:cNvPr id="12" name="TextBox 11"/>
          <p:cNvSpPr txBox="1"/>
          <p:nvPr/>
        </p:nvSpPr>
        <p:spPr>
          <a:xfrm>
            <a:off x="2331720" y="2990088"/>
            <a:ext cx="9326880" cy="822960"/>
          </a:xfrm>
          <a:prstGeom prst="rect">
            <a:avLst/>
          </a:prstGeom>
          <a:noFill/>
        </p:spPr>
        <p:txBody>
          <a:bodyPr wrap="square" anchor="t" lIns="0" rIns="0" tIns="0" bIns="0">
            <a:spAutoFit/>
          </a:bodyPr>
          <a:lstStyle/>
          <a:p>
            <a:pPr algn="l">
              <a:lnSpc>
                <a:spcPct val="110000"/>
              </a:lnSpc>
              <a:spcAft>
                <a:spcPts val="600"/>
              </a:spcAft>
            </a:pPr>
            <a:r>
              <a:rPr sz="1550" b="0" i="0">
                <a:solidFill>
                  <a:srgbClr val="0E1F3D"/>
                </a:solidFill>
                <a:latin typeface="Arial"/>
              </a:rPr>
              <a:t>Pilot một chi nhánh, luồng vay cá nhân — KPI: 70% trường tự động, đo thời gian tiết kiệm</a:t>
            </a:r>
          </a:p>
        </p:txBody>
      </p:sp>
      <p:sp>
        <p:nvSpPr>
          <p:cNvPr id="13" name="Rounded Rectangle 12"/>
          <p:cNvSpPr/>
          <p:nvPr/>
        </p:nvSpPr>
        <p:spPr>
          <a:xfrm>
            <a:off x="502920" y="4023360"/>
            <a:ext cx="1554480" cy="914400"/>
          </a:xfrm>
          <a:prstGeom prst="roundRect">
            <a:avLst>
              <a:gd name="adj" fmla="val 14000"/>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rial"/>
              </a:rPr>
              <a:t>6 tháng</a:t>
            </a:r>
          </a:p>
        </p:txBody>
      </p:sp>
      <p:sp>
        <p:nvSpPr>
          <p:cNvPr id="14" name="TextBox 13"/>
          <p:cNvSpPr txBox="1"/>
          <p:nvPr/>
        </p:nvSpPr>
        <p:spPr>
          <a:xfrm>
            <a:off x="2331720" y="4133088"/>
            <a:ext cx="9326880" cy="822960"/>
          </a:xfrm>
          <a:prstGeom prst="rect">
            <a:avLst/>
          </a:prstGeom>
          <a:noFill/>
        </p:spPr>
        <p:txBody>
          <a:bodyPr wrap="square" anchor="t" lIns="0" rIns="0" tIns="0" bIns="0">
            <a:spAutoFit/>
          </a:bodyPr>
          <a:lstStyle/>
          <a:p>
            <a:pPr algn="l">
              <a:lnSpc>
                <a:spcPct val="110000"/>
              </a:lnSpc>
              <a:spcAft>
                <a:spcPts val="600"/>
              </a:spcAft>
            </a:pPr>
            <a:r>
              <a:rPr sz="1550" b="0" i="0">
                <a:solidFill>
                  <a:srgbClr val="0E1F3D"/>
                </a:solidFill>
                <a:latin typeface="Arial"/>
              </a:rPr>
              <a:t>Distill sang extractor PyTorch chuyên biệt chạy on-prem — nhãn lấy từ chính review queue, dữ liệu không rời ngân hàng, chi phí biên tiệm cận 0</a:t>
            </a:r>
          </a:p>
        </p:txBody>
      </p:sp>
      <p:sp>
        <p:nvSpPr>
          <p:cNvPr id="15" name="Rounded Rectangle 14"/>
          <p:cNvSpPr/>
          <p:nvPr/>
        </p:nvSpPr>
        <p:spPr>
          <a:xfrm>
            <a:off x="502920" y="5212080"/>
            <a:ext cx="11201400" cy="1051560"/>
          </a:xfrm>
          <a:prstGeom prst="roundRect">
            <a:avLst>
              <a:gd name="adj" fmla="val 10000"/>
            </a:avLst>
          </a:prstGeom>
          <a:solidFill>
            <a:srgbClr val="FFF7E6"/>
          </a:solidFill>
          <a:ln w="1524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431536"/>
            <a:ext cx="10515600" cy="731520"/>
          </a:xfrm>
          <a:prstGeom prst="rect">
            <a:avLst/>
          </a:prstGeom>
          <a:noFill/>
        </p:spPr>
        <p:txBody>
          <a:bodyPr wrap="square" anchor="t" lIns="0" rIns="0" tIns="0" bIns="0">
            <a:spAutoFit/>
          </a:bodyPr>
          <a:lstStyle/>
          <a:p>
            <a:pPr algn="ctr">
              <a:lnSpc>
                <a:spcPct val="100000"/>
              </a:lnSpc>
              <a:spcAft>
                <a:spcPts val="600"/>
              </a:spcAft>
            </a:pPr>
            <a:r>
              <a:rPr sz="1900" b="1" i="0">
                <a:solidFill>
                  <a:srgbClr val="C25605"/>
                </a:solidFill>
                <a:latin typeface="Arial"/>
              </a:rPr>
              <a:t>“DocFlow không phải demo hackathon — nó là sản phẩm SHB có thể bật công tắc.”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21207" y="2011680"/>
            <a:ext cx="11155680" cy="914400"/>
          </a:xfrm>
          <a:prstGeom prst="rect">
            <a:avLst/>
          </a:prstGeom>
          <a:noFill/>
        </p:spPr>
        <p:txBody>
          <a:bodyPr wrap="square" anchor="t" lIns="0" rIns="0" tIns="0" bIns="0">
            <a:spAutoFit/>
          </a:bodyPr>
          <a:lstStyle/>
          <a:p>
            <a:pPr algn="l">
              <a:lnSpc>
                <a:spcPct val="100000"/>
              </a:lnSpc>
              <a:spcAft>
                <a:spcPts val="600"/>
              </a:spcAft>
            </a:pPr>
            <a:r>
              <a:rPr sz="4800" b="1" i="0">
                <a:solidFill>
                  <a:srgbClr val="FFFFFF"/>
                </a:solidFill>
                <a:latin typeface="Arial"/>
              </a:rPr>
              <a:t>Doc</a:t>
            </a:r>
            <a:r>
              <a:rPr sz="4800" b="1" i="0">
                <a:solidFill>
                  <a:srgbClr val="F58220"/>
                </a:solidFill>
                <a:latin typeface="Arial"/>
              </a:rPr>
              <a:t>Flow</a:t>
            </a:r>
            <a:r>
              <a:rPr sz="3000" b="0" i="0">
                <a:solidFill>
                  <a:srgbClr val="FFFFFF"/>
                </a:solidFill>
                <a:latin typeface="Arial"/>
              </a:rPr>
              <a:t>  ·  Cảm ơn ban giám khảo</a:t>
            </a:r>
          </a:p>
        </p:txBody>
      </p:sp>
      <p:sp>
        <p:nvSpPr>
          <p:cNvPr id="5" name="TextBox 4"/>
          <p:cNvSpPr txBox="1"/>
          <p:nvPr/>
        </p:nvSpPr>
        <p:spPr>
          <a:xfrm>
            <a:off x="521207" y="3154680"/>
            <a:ext cx="11155680" cy="548640"/>
          </a:xfrm>
          <a:prstGeom prst="rect">
            <a:avLst/>
          </a:prstGeom>
          <a:noFill/>
        </p:spPr>
        <p:txBody>
          <a:bodyPr wrap="square" anchor="t" lIns="0" rIns="0" tIns="0" bIns="0">
            <a:spAutoFit/>
          </a:bodyPr>
          <a:lstStyle/>
          <a:p>
            <a:pPr algn="l">
              <a:lnSpc>
                <a:spcPct val="100000"/>
              </a:lnSpc>
              <a:spcAft>
                <a:spcPts val="600"/>
              </a:spcAft>
            </a:pPr>
            <a:r>
              <a:rPr sz="2600" b="1" i="0">
                <a:solidFill>
                  <a:srgbClr val="F58220"/>
                </a:solidFill>
                <a:latin typeface="Arial"/>
              </a:rPr>
              <a:t>docflow.huynhchitai.com</a:t>
            </a:r>
          </a:p>
        </p:txBody>
      </p:sp>
      <p:sp>
        <p:nvSpPr>
          <p:cNvPr id="6" name="TextBox 5"/>
          <p:cNvSpPr txBox="1"/>
          <p:nvPr/>
        </p:nvSpPr>
        <p:spPr>
          <a:xfrm>
            <a:off x="521207" y="3794760"/>
            <a:ext cx="11155680" cy="457200"/>
          </a:xfrm>
          <a:prstGeom prst="rect">
            <a:avLst/>
          </a:prstGeom>
          <a:noFill/>
        </p:spPr>
        <p:txBody>
          <a:bodyPr wrap="square" anchor="t" lIns="0" rIns="0" tIns="0" bIns="0">
            <a:spAutoFit/>
          </a:bodyPr>
          <a:lstStyle/>
          <a:p>
            <a:pPr algn="l">
              <a:lnSpc>
                <a:spcPct val="100000"/>
              </a:lnSpc>
              <a:spcAft>
                <a:spcPts val="600"/>
              </a:spcAft>
            </a:pPr>
            <a:r>
              <a:rPr sz="1400" b="0" i="0">
                <a:solidFill>
                  <a:srgbClr val="B9C6DE"/>
                </a:solidFill>
                <a:latin typeface="Arial"/>
              </a:rPr>
              <a:t>Đang chạy production — mã truy cập trong hồ sơ Checkpoint 2 (credentials)</a:t>
            </a:r>
          </a:p>
        </p:txBody>
      </p:sp>
      <p:sp>
        <p:nvSpPr>
          <p:cNvPr id="7" name="TextBox 6"/>
          <p:cNvSpPr txBox="1"/>
          <p:nvPr/>
        </p:nvSpPr>
        <p:spPr>
          <a:xfrm>
            <a:off x="521207" y="4846320"/>
            <a:ext cx="11155680" cy="1097280"/>
          </a:xfrm>
          <a:prstGeom prst="rect">
            <a:avLst/>
          </a:prstGeom>
          <a:noFill/>
        </p:spPr>
        <p:txBody>
          <a:bodyPr wrap="square" anchor="t" lIns="0" rIns="0" tIns="0" bIns="0">
            <a:spAutoFit/>
          </a:bodyPr>
          <a:lstStyle/>
          <a:p>
            <a:pPr algn="l">
              <a:lnSpc>
                <a:spcPct val="100000"/>
              </a:lnSpc>
              <a:spcAft>
                <a:spcPts val="400"/>
              </a:spcAft>
            </a:pPr>
            <a:r>
              <a:rPr sz="1400" b="0" i="0">
                <a:solidFill>
                  <a:srgbClr val="B9C6DE"/>
                </a:solidFill>
                <a:latin typeface="Arial"/>
              </a:rPr>
              <a:t>Team OCanbubu — 100% code AI sinh trong 48h, nhật ký đầy đủ</a:t>
            </a:r>
          </a:p>
          <a:p>
            <a:pPr algn="l">
              <a:lnSpc>
                <a:spcPct val="100000"/>
              </a:lnSpc>
              <a:spcAft>
                <a:spcPts val="400"/>
              </a:spcAft>
            </a:pPr>
            <a:r>
              <a:rPr sz="1400" b="0" i="0">
                <a:solidFill>
                  <a:srgbClr val="B9C6DE"/>
                </a:solidFill>
                <a:latin typeface="Arial"/>
              </a:rPr>
              <a:t>Repo: github.com/huynhchitai/docflow · Benchmark: metrics/ · Kiến trúc: .claude/ARCHITECTURE.md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