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ban giám khảo. Em là đại diện team OCanbubu. Sản phẩm của tụi em là DocFlow — giải đề Intelligent Document Processing của SHB, và mọi thứ quý vị sắp thấy đang chạy thật trên production, không phải mockup.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SHB xử lý khối lượng lớn hồ sơ tín dụng và điện thanh toán quốc tế thủ công. Chính đề bài đặt mục tiêu giảm 70–80% thời gian xử lý. DocFlow trả lời trực tiếp con số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mở màn: kéo 4 file của bộ 'Scan điện thoại · Nguyễn Văn An' vào. Trong lúc chạy: PyTorch router phân loại trước, Gemini trích xuất song song — cả bộ tốn thời gian của file chậm nhất, không phải tổng. Có progress bar theo thời gian thực.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60 giây quan trọng nhất. Click 'Số CCCD' → viewer khoanh cam đúng vị trí trên giấy. Chỉ vào banner đỏ: CCCD trên hợp đồng lệch đơn vay → click → hai bản scan mở cạnh nhau. Chốt câu: 'Đây không phải OCR. Đây là lớp kiểm soát rủi ro — thứ ngân hàng trả tiền để có.'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nhanh: double-click sửa 1 trường → hiện icon bút + audit log. Quay về dashboard KPI. Bấm Export core-banking → JSON payload. Câu chốt: payload trung lập, adapter đứng trước core Intellect — không đụng core, đúng nguyên tắc tích hợp hệ thống ngân hàng.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Tất cả đo trên production với ground truth, script công khai. Tụi em công bố cả 95% lẫn 84% — minh bạch cả số đẹp lẫn số thô. So với hàng giờ nhập tay: p50 26 giây một chứng từ.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Điểm nhấn kiến trúc: không có file credential nào tồn tại — Cloud Run chạy ADC. Trọng tài đối chiếu là rule thuần TypeScript đọc từ điển trường chuẩn — deterministic, giải thích được từng cảnh báo. Bộ phận bắt sai lệch mà dùng model thì chính nó có thể bịa.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Với giải META: PyTorch không gắn vào cho có. Nó là bộ định tuyến đứng đầu pipeline — train tại sự kiện, dataset sinh lại được bằng script, TorchScript serve production. Camera thấy chip PyTorch trên từng chứng từ trong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nguồn thu: phí theo lượt, phí tích hợp một lần, thuê bao vận hành theo chi nhánh. Đơn vị kinh tế minh bạch: 10.000 bộ/tháng tốn khoảng 5 triệu đồng AI. Sản phẩm không phụ thuộc SHB — lõi IDP dùng được cho mọi tổ chức tài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Chốt: 2 tuần sau hôm nay tụi em có thể chạy sandbox trên hồ sơ ẩn danh. 3 tháng pilot một chi nhánh với KPI 70% trường tự động. Câu kết: DocFlow không phải demo hackathon — nó là sản phẩm SHB có thể bật công tắc.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tủ: (1) Sai thì sao → review queue + audit. (2) AI sai cả hai bản → nhập tay áp mọi nguồn, vẫn audit. (3) Tích hợp core Intellect 2010 → adapter qua ESB, không đụng core. (4) Sao không để AI tự đối chiếu → trọng tài phải deterministic. (5) Bảo mật → access code, RLS, private bucket. (6) Scale → serverless, 10.000 bộ/ngày ≈ 5 triệu đồng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02920"/>
            <a:ext cx="274320" cy="2743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Arial"/>
              </a:rPr>
              <a:t>Doc</a:t>
            </a:r>
            <a:r>
              <a:rPr sz="7600" b="1" i="0">
                <a:solidFill>
                  <a:srgbClr val="F58220"/>
                </a:solidFill>
                <a:latin typeface="Arial"/>
              </a:rPr>
              <a:t>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Arial"/>
              </a:rPr>
              <a:t>Hồ sơ tín dụng: từ bản scan đến core-banking trong vài phút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4069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58220"/>
                </a:solidFill>
                <a:latin typeface="Arial"/>
              </a:rPr>
              <a:t>AI đọc — code đối chiếu — người quyết định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5349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9C6DE"/>
                </a:solidFill>
                <a:latin typeface="Arial"/>
              </a:rPr>
              <a:t>Team OCanbubu · Vietnam AI Innovation Challenge 2026 · Đà Nẵng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9C6DE"/>
                </a:solidFill>
                <a:latin typeface="Arial"/>
              </a:rPr>
              <a:t>Đề SHB #195 — Intelligent Document Processing · Track Tài chính / Ngân hàng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960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F58220"/>
                </a:solidFill>
                <a:latin typeface="Arial"/>
              </a:rPr>
              <a:t>docflow.huynhchitai.com — đang chạy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VẤN ĐỀ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Một bộ hồ sơ vay = nhiều giờ gõ tay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6035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>Cán bộ tín dụng nhận một bộ hồ sơ scan: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51617F"/>
                </a:solidFill>
                <a:latin typeface="Arial"/>
              </a:rPr>
              <a:t>đơn vay · báo cáo tài chính · hợp đồng thế chấp · điện SWIFT/TT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0E1F3D"/>
                </a:solidFill>
                <a:latin typeface="Arial"/>
              </a:rPr>
              <a:t>Rồi gõ lại hàng chục trường vào hệ thống — bằng tay.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Chậm: phê duyệt tính bằng ngày, không phải giờ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Sai: mỗi lần gõ lại là một cơ hội sai số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Đắt: thời gian nghiệp vụ đổ vào việc nhập liệu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737360"/>
            <a:ext cx="47091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05740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ĐỀ BÀI SHB ĐẶT MỤC TIÊU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468880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C25605"/>
                </a:solidFill>
                <a:latin typeface="Arial"/>
              </a:rPr>
              <a:t>70–80%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1617F"/>
                </a:solidFill>
                <a:latin typeface="Arial"/>
              </a:rPr>
              <a:t>giảm thời gian xử lý chứng từ thủ công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977639"/>
            <a:ext cx="4114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ngày → giờ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1617F"/>
                </a:solidFill>
                <a:latin typeface="Arial"/>
              </a:rPr>
              <a:t>rút ngắn chu trình phê duyệt khoản vay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Thả cả bộ hồ sơ vào — phần còn lại là một luồng duy nhất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03</a:t>
            </a:r>
          </a:p>
        </p:txBody>
      </p:sp>
      <p:sp>
        <p:nvSpPr>
          <p:cNvPr id="9" name="Chevron 8"/>
          <p:cNvSpPr/>
          <p:nvPr/>
        </p:nvSpPr>
        <p:spPr>
          <a:xfrm>
            <a:off x="502920" y="1828800"/>
            <a:ext cx="2395728" cy="1600200"/>
          </a:xfrm>
          <a:prstGeom prst="chevron">
            <a:avLst/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Thả hồ sơ</a:t>
            </a:r>
          </a:p>
        </p:txBody>
      </p:sp>
      <p:sp>
        <p:nvSpPr>
          <p:cNvPr id="10" name="Chevron 9"/>
          <p:cNvSpPr/>
          <p:nvPr/>
        </p:nvSpPr>
        <p:spPr>
          <a:xfrm>
            <a:off x="2679192" y="1828800"/>
            <a:ext cx="2395728" cy="1600200"/>
          </a:xfrm>
          <a:prstGeom prst="chevron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PyTorch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router</a:t>
            </a:r>
          </a:p>
        </p:txBody>
      </p:sp>
      <p:sp>
        <p:nvSpPr>
          <p:cNvPr id="11" name="Chevron 10"/>
          <p:cNvSpPr/>
          <p:nvPr/>
        </p:nvSpPr>
        <p:spPr>
          <a:xfrm>
            <a:off x="4855464" y="1828800"/>
            <a:ext cx="2395728" cy="1600200"/>
          </a:xfrm>
          <a:prstGeom prst="chevron">
            <a:avLst/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Trích xuất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sp>
        <p:nvSpPr>
          <p:cNvPr id="12" name="Chevron 11"/>
          <p:cNvSpPr/>
          <p:nvPr/>
        </p:nvSpPr>
        <p:spPr>
          <a:xfrm>
            <a:off x="7031736" y="1828800"/>
            <a:ext cx="2395728" cy="1600200"/>
          </a:xfrm>
          <a:prstGeom prst="chevron">
            <a:avLst/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Đối chiếu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chéo</a:t>
            </a:r>
          </a:p>
        </p:txBody>
      </p:sp>
      <p:sp>
        <p:nvSpPr>
          <p:cNvPr id="13" name="Chevron 12"/>
          <p:cNvSpPr/>
          <p:nvPr/>
        </p:nvSpPr>
        <p:spPr>
          <a:xfrm>
            <a:off x="9208008" y="1828800"/>
            <a:ext cx="2395728" cy="1600200"/>
          </a:xfrm>
          <a:prstGeom prst="chevron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Duyệt &amp; xuất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core-banking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611880"/>
            <a:ext cx="21214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1617F"/>
                </a:solidFill>
                <a:latin typeface="Arial"/>
              </a:rPr>
              <a:t>nhiều PDF/ảnh, xử lý song song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3611880"/>
            <a:ext cx="21214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1617F"/>
                </a:solidFill>
                <a:latin typeface="Arial"/>
              </a:rPr>
              <a:t>phân loại chứng từ 120–290ms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3611880"/>
            <a:ext cx="21214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1617F"/>
                </a:solidFill>
                <a:latin typeface="Arial"/>
              </a:rPr>
              <a:t>value + độ tin cậy + vị trí trên giấy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328" y="3611880"/>
            <a:ext cx="21214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1617F"/>
                </a:solidFill>
                <a:latin typeface="Arial"/>
              </a:rPr>
              <a:t>rule thuần code, cảnh báo trọng yếu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3611880"/>
            <a:ext cx="21214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1617F"/>
                </a:solidFill>
                <a:latin typeface="Arial"/>
              </a:rPr>
              <a:t>audit log, payload CIF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Scan điện thoại nghiêng, mờ, nhiễu — vẫn đọc được. </a:t>
            </a:r>
            <a:r>
              <a:rPr sz="1600" b="0" i="0">
                <a:solidFill>
                  <a:srgbClr val="51617F"/>
                </a:solidFill>
                <a:latin typeface="Arial"/>
              </a:rPr>
              <a:t>Nghiệp vụ tự thêm trường mới trên UI trong 10 giây, không cần deploy.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KHOẢNH KHẮC TRUST — ĐINH CỦA BÀI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AI không được phép nói mà không chỉ tay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25605"/>
                </a:solidFill>
                <a:latin typeface="Arial"/>
              </a:rPr>
              <a:t>TRUY VẾT TỪNG CON SỐ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Click một trường — bản scan gốc mở đúng vị trí, khoanh cam từng dòng, phần còn lại làm mờ.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Trường không đọc được thì bỏ trống + cảnh báo. Không suy diễn, không đoán.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51617F"/>
                </a:solidFill>
                <a:latin typeface="Arial"/>
              </a:rPr>
              <a:t>Giá trị nào cũng có box_2d trỏ về bản gốc, lưu cùng dữ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87451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E123C"/>
                </a:solidFill>
                <a:latin typeface="Arial"/>
              </a:rPr>
              <a:t>CẢNH BÁO TRỌNG YẾU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48463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0E1F3D"/>
                </a:solidFill>
                <a:latin typeface="Arial"/>
              </a:rPr>
              <a:t>Số CCCD trên hợp đồng lệch với đơn vay — hệ thống tự bắt.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0E1F3D"/>
                </a:solidFill>
                <a:latin typeface="Arial"/>
              </a:rPr>
              <a:t>Click ô lệch: hai bản gốc mở cạnh nhau, mỗi bên khoanh đúng chỗ mâu thuẫn. Chọn bản đúng — hoặc cả hai đều sai thì nhập tay, áp cho mọi nguồn.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C25605"/>
                </a:solidFill>
                <a:latin typeface="Arial"/>
              </a:rPr>
              <a:t>Đây không phải OCR. Đây là một lớp kiểm soát rủi 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HUMAN-IN-THE-LOOP &amp; VẬN HÀNH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Người quyết — máy ghi vết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28216"/>
            <a:ext cx="128016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Hiệu chỉnh tại chỗ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4592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51617F"/>
                </a:solidFill>
                <a:latin typeface="Arial"/>
              </a:rPr>
              <a:t>Nhấp đúp sửa một trường — ai sửa, lúc nào, giá trị cũ và mới đều vào nhật ký kiểm toán.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52344"/>
            <a:ext cx="128016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70048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Hàng chờ theo độ tin cậy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70048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51617F"/>
                </a:solidFill>
                <a:latin typeface="Arial"/>
              </a:rPr>
              <a:t>Trường tin cậy thấp tự đánh vàng/đỏ, bộ hồ sơ chuyển trạng thái chờ duyệt.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76472"/>
            <a:ext cx="128016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6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Dashboard quản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694176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51617F"/>
                </a:solidFill>
                <a:latin typeface="Arial"/>
              </a:rPr>
              <a:t>KPI phòng: % trường tự động, thời gian trung bình, cảnh báo trọng yếu — cán bộ quản lý nhìn thấy cả phòng.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00600"/>
            <a:ext cx="128016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18304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Xuất core-banking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718304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51617F"/>
                </a:solidFill>
                <a:latin typeface="Arial"/>
              </a:rPr>
              <a:t>Payload CIF + metadata tích hợp, nhắm core Intellect (SOA/ESB) qua adapter — không đụng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KẾT QUẢ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Số liệu đo thật — không phải ước lượng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C25605"/>
                </a:solidFill>
                <a:latin typeface="Arial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502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trường trích đúng (12 lượt đo có ground truth; 84% nếu tính cả lượt lỗi hạ tầng — công bố cả hai)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C25605"/>
                </a:solidFill>
                <a:latin typeface="Arial"/>
              </a:rPr>
              <a:t>p50 26 giây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743200"/>
            <a:ext cx="502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mỗi chứng từ — các file chạy song song nên cả bộ chỉ bằng file chậm nhất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4048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C25605"/>
                </a:solidFill>
                <a:latin typeface="Arial"/>
              </a:rPr>
              <a:t>&lt; 500đ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02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chi phí AI cho một bộ hồ sơ 4 chứng từ — hai lớp cache theo nội dung 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2336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C25605"/>
                </a:solidFill>
                <a:latin typeface="Arial"/>
              </a:rPr>
              <a:t>3/3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937760"/>
            <a:ext cx="502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ảnh chụp điện thoại nghiêng/mờ/nhiễu phân loại đúng — vẫn bắt được CCCD lệch giữa hai bản scan xấu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1617F"/>
                </a:solidFill>
                <a:latin typeface="Arial"/>
              </a:rPr>
              <a:t>Đo trên production · benchmark + script công khai trong repo (metrics/)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Kiến trúc AI-native — serverless toàn tuyến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377440" cy="1005840"/>
          </a:xfrm>
          <a:prstGeom prst="roundRect">
            <a:avLst>
              <a:gd name="adj" fmla="val 10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React SPA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Cloudflare Workers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71800" y="2194560"/>
            <a:ext cx="457200" cy="2743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1828800"/>
            <a:ext cx="2377440" cy="1005840"/>
          </a:xfrm>
          <a:prstGeom prst="roundRect">
            <a:avLst>
              <a:gd name="adj" fmla="val 10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Worker API (Hono)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orchestrator + cross-check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2194560"/>
            <a:ext cx="457200" cy="2743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1828800"/>
            <a:ext cx="2514600" cy="1005840"/>
          </a:xfrm>
          <a:prstGeom prst="roundRect">
            <a:avLst>
              <a:gd name="adj" fmla="val 10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Cloud Run proxy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service account ADC — zero key file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125712" y="2194560"/>
            <a:ext cx="457200" cy="2743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46920" y="1828800"/>
            <a:ext cx="2057400" cy="1005840"/>
          </a:xfrm>
          <a:prstGeom prst="roundRect">
            <a:avLst>
              <a:gd name="adj" fmla="val 10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Vertex AI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Gemini 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3383280"/>
            <a:ext cx="2377440" cy="1005840"/>
          </a:xfrm>
          <a:prstGeom prst="roundRect">
            <a:avLst>
              <a:gd name="adj" fmla="val 10000"/>
            </a:avLst>
          </a:prstGeom>
          <a:solidFill>
            <a:srgbClr val="1A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Supabase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Postgres + Storage + RLS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83280"/>
            <a:ext cx="2514600" cy="1005840"/>
          </a:xfrm>
          <a:prstGeom prst="roundRect">
            <a:avLst>
              <a:gd name="adj" fmla="val 1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PyTorch router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ResNet18 TorchScript · Cloud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84632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i="0">
                <a:solidFill>
                  <a:srgbClr val="0E1F3D"/>
                </a:solidFill>
                <a:latin typeface="Arial"/>
              </a:rPr>
              <a:t>Không một credential file nào tồn tại trong hệ thống</a:t>
            </a:r>
            <a:r>
              <a:rPr sz="1550" b="0" i="0">
                <a:solidFill>
                  <a:srgbClr val="51617F"/>
                </a:solidFill>
                <a:latin typeface="Arial"/>
              </a:rPr>
              <a:t> — Cloud Run chạy bằng service account ADC, org policy chặn tạo key.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i="0">
                <a:solidFill>
                  <a:srgbClr val="0E1F3D"/>
                </a:solidFill>
                <a:latin typeface="Arial"/>
              </a:rPr>
              <a:t>100% code AI sinh trong 48h</a:t>
            </a:r>
            <a:r>
              <a:rPr sz="1550" b="0" i="0">
                <a:solidFill>
                  <a:srgbClr val="51617F"/>
                </a:solidFill>
                <a:latin typeface="Arial"/>
              </a:rPr>
              <a:t> — nhật ký cộng tác AI đầy đủ 7 phiên (AI-LOG.md + session files).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i="0">
                <a:solidFill>
                  <a:srgbClr val="0E1F3D"/>
                </a:solidFill>
                <a:latin typeface="Arial"/>
              </a:rPr>
              <a:t>Chi phí tuyến tính theo trang</a:t>
            </a:r>
            <a:r>
              <a:rPr sz="1550" b="0" i="0">
                <a:solidFill>
                  <a:srgbClr val="51617F"/>
                </a:solidFill>
                <a:latin typeface="Arial"/>
              </a:rPr>
              <a:t> — serverless toàn tuyến, cache 2 lớp theo nội dung 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META PYTORCH AWARD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PyTorch là router, không phải đồ trang trí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852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0E1F3D"/>
                </a:solidFill>
                <a:latin typeface="Arial"/>
              </a:rPr>
              <a:t>ResNet18 fine-tune ngay tại sự kiện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1617F"/>
                </a:solidFill>
                <a:latin typeface="Arial"/>
              </a:rPr>
              <a:t>720 ảnh augmented sinh từ bộ demo — dataset tái tạo được bằng script trong repo (training/).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0E1F3D"/>
                </a:solidFill>
                <a:latin typeface="Arial"/>
              </a:rPr>
              <a:t>Chạy TRƯỚC Gemini, quyết định luồng xử lý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1617F"/>
                </a:solidFill>
                <a:latin typeface="Arial"/>
              </a:rPr>
              <a:t>Phân loại chứng từ → định tuyến schema trích xuất + gợi ý loại vào prompt. Kết quả lưu DB, hiện chip PyTorch trên từng chứng từ.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 i="0">
                <a:solidFill>
                  <a:srgbClr val="0E1F3D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0E1F3D"/>
                </a:solidFill>
                <a:latin typeface="Arial"/>
              </a:rPr>
              <a:t>TorchScript serve trên Cloud Run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1617F"/>
                </a:solidFill>
                <a:latin typeface="Arial"/>
              </a:rPr>
              <a:t>Cùng service với proxy Vertex — một cửa ngõ AI duy nhất.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64592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828800"/>
            <a:ext cx="4526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C25605"/>
                </a:solidFill>
                <a:latin typeface="Arial"/>
              </a:rPr>
              <a:t>94.9%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304288"/>
            <a:ext cx="4526280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val accuracy — fine-tune 3 epochs trong sự kiện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10896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3291840"/>
            <a:ext cx="4526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C25605"/>
                </a:solidFill>
                <a:latin typeface="Arial"/>
              </a:rPr>
              <a:t>4/4 @ 99–100%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67328"/>
            <a:ext cx="4526280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phân loại đúng trên production, độ tin cậy 99–100%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57200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4754880"/>
            <a:ext cx="4526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C25605"/>
                </a:solidFill>
                <a:latin typeface="Arial"/>
              </a:rPr>
              <a:t>120–290ms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230368"/>
            <a:ext cx="4526280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mỗi lượt phân loại — rẻ hơn nhiều lần gọi nhầm model lớn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Mô hình kinh doanh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6576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3657600" cy="128016"/>
          </a:xfrm>
          <a:prstGeom prst="rect">
            <a:avLst/>
          </a:prstGeom>
          <a:solidFill>
            <a:srgbClr val="C256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Phí theo bộ hồ sơ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3108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Thu theo lượt xử lý (SaaS). Chi phí AI &lt; 500đ/bộ — giá bán vài nghìn đồng vẫn rẻ hơn nhiều lần chi phí giờ công nhập tay.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645920"/>
            <a:ext cx="36576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645920"/>
            <a:ext cx="3657600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96596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Gói tích hợp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514600"/>
            <a:ext cx="3108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Phí triển khai một lần: adapter vào core (Intellect/ESB), mapping trường theo nghiệp vụ từng ngân hàng, đào tạo.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6" y="1645920"/>
            <a:ext cx="36576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7576" y="1645920"/>
            <a:ext cx="3657600" cy="12801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96596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0E1F3D"/>
                </a:solidFill>
                <a:latin typeface="Arial"/>
              </a:rPr>
              <a:t>Thuê bao vận hành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514600"/>
            <a:ext cx="3108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1617F"/>
                </a:solidFill>
                <a:latin typeface="Arial"/>
              </a:rPr>
              <a:t>Theo chi nhánh/tháng: dashboard KPI, audit log, cấu hình trường tùy chỉnh, SLA hỗ trợ.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1772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i="0">
                <a:solidFill>
                  <a:srgbClr val="0E1F3D"/>
                </a:solidFill>
                <a:latin typeface="Arial"/>
              </a:rPr>
              <a:t>Đơn vị kinh tế: </a:t>
            </a:r>
            <a:r>
              <a:rPr sz="1550" b="0" i="0">
                <a:solidFill>
                  <a:srgbClr val="51617F"/>
                </a:solidFill>
                <a:latin typeface="Arial"/>
              </a:rPr>
              <a:t>10.000 bộ/tháng ≈ 5 triệu đồng chi phí AI — đổi lấy hàng nghìn giờ công nghiệp vụ. Biên gộp phần mềm &gt; 90%.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 i="0">
                <a:solidFill>
                  <a:srgbClr val="0E1F3D"/>
                </a:solidFill>
                <a:latin typeface="Arial"/>
              </a:rPr>
              <a:t>Thị trường: </a:t>
            </a:r>
            <a:r>
              <a:rPr sz="1550" b="0" i="0">
                <a:solidFill>
                  <a:srgbClr val="51617F"/>
                </a:solidFill>
                <a:latin typeface="Arial"/>
              </a:rPr>
              <a:t>bắt đầu từ pilot SHB → nhân rộng khối ngân hàng thương mại Việt Nam; cùng một lõi dùng được cho bảo hiểm, chứng khoán, công ty tài chính.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201168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743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C25605"/>
                </a:solidFill>
                <a:latin typeface="Arial"/>
              </a:rPr>
              <a:t>PILOT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E1F3D"/>
                </a:solidFill>
                <a:latin typeface="Arial"/>
              </a:rPr>
              <a:t>Lộ trình pilot — bật công tắc là chạy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11183112" cy="1778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DocFlow · Team OCanbubu · Đề SHB #195 — Intelligent Document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1617F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 tuần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8470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0E1F3D"/>
                </a:solidFill>
                <a:latin typeface="Arial"/>
              </a:rPr>
              <a:t>Sandbox trên hồ sơ ẩn danh SHB — đo accuracy trên dữ liệu thật của ngân hàng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8036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 tháng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9900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0E1F3D"/>
                </a:solidFill>
                <a:latin typeface="Arial"/>
              </a:rPr>
              <a:t>Pilot một chi nhánh, luồng vay cá nhân — KPI: 70% trường tự động, đo thời gian tiết kiệm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554480" cy="914400"/>
          </a:xfrm>
          <a:prstGeom prst="roundRect">
            <a:avLst>
              <a:gd name="adj" fmla="val 14000"/>
            </a:avLst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6 tháng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1330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0E1F3D"/>
                </a:solidFill>
                <a:latin typeface="Arial"/>
              </a:rPr>
              <a:t>Mở rộng loại chứng từ (SWIFT/TT full, BCTC doanh nghiệp), lớp verify OCR độc lập, rollout theo cụm chi nhánh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12080"/>
            <a:ext cx="11201400" cy="1051560"/>
          </a:xfrm>
          <a:prstGeom prst="roundRect">
            <a:avLst>
              <a:gd name="adj" fmla="val 10000"/>
            </a:avLst>
          </a:prstGeom>
          <a:solidFill>
            <a:srgbClr val="FFF7E6"/>
          </a:solidFill>
          <a:ln w="1524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431536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25605"/>
                </a:solidFill>
                <a:latin typeface="Arial"/>
              </a:rPr>
              <a:t>“DocFlow không phải demo hackathon — nó là sản phẩm SHB có thể bật công tắc.”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7" y="2011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Doc</a:t>
            </a:r>
            <a:r>
              <a:rPr sz="4800" b="1" i="0">
                <a:solidFill>
                  <a:srgbClr val="F58220"/>
                </a:solidFill>
                <a:latin typeface="Arial"/>
              </a:rPr>
              <a:t>Flow</a:t>
            </a:r>
            <a:r>
              <a:rPr sz="3000" b="0" i="0">
                <a:solidFill>
                  <a:srgbClr val="FFFFFF"/>
                </a:solidFill>
                <a:latin typeface="Arial"/>
              </a:rPr>
              <a:t>  ·  Cảm ơn ban giám khảo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31546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58220"/>
                </a:solidFill>
                <a:latin typeface="Arial"/>
              </a:rPr>
              <a:t>docflow.huynhchitai.com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7947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B9C6DE"/>
                </a:solidFill>
                <a:latin typeface="Arial"/>
              </a:rPr>
              <a:t>Đang chạy production — mã truy cập trong hồ sơ Checkpoint 2 (credentials)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48463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9C6DE"/>
                </a:solidFill>
                <a:latin typeface="Arial"/>
              </a:rPr>
              <a:t>Team OCanbubu — 100% code AI sinh trong 48h, nhật ký đầy đủ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9C6DE"/>
                </a:solidFill>
                <a:latin typeface="Arial"/>
              </a:rPr>
              <a:t>Repo: github.com/huynhchitai/docflow · Benchmark: metrics/ · Kiến trúc: .claude/ARCHITECTURE.md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